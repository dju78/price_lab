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headline number, then say what the collection is and over what period. Do not read the subtitle aloud, it is there for the reader.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findings, ranked by materiality. Say each headline once and move on; the detail comes on the slides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numbers, gathered in one place before the detail. Figures are produced from the cleaned collection using a matched model index. The aggregate is equally weighted, as no expenditure weights were supplied.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117 values sit around one hundred times the level of their own item and 113 sit around one hundredth of it. The multipliers cluster tightly rather than forming a continuous tail, which is the signature of a unit of measurement fault rather than genuine price volatility. Because the mechanism is known, the true value can be restored by rescaling, so the observations were repaired rather than deleted. Deleting them would have broken the item continuity that a matched index depends on.</a:t>
            </a:r>
          </a:p>
          <a:p/>
          <a:p>
            <a:r>
              <a:t>Recommended action: Review the flagged list before publication. If the collection system can be changed, a field-level unit validation at entry would remove this class of error at source.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all-items index reaches 135.6 at December 2025 against a base of 100 at January 2015. With no expenditure weights supplied this aggregate is an equally weighted geometric mean of the category indices, so it is indicative of direction and broad magnitude rather than an authoritative headline rate.</a:t>
            </a:r>
          </a:p>
          <a:p/>
          <a:p>
            <a:r>
              <a:t>Recommended action: Supply expenditure weights to turn this into a publishable headline rate.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twelve period rate traces a clear cycle rather than a steady trend. The peak sits in October 2020 and the rate at the end of the series is 2.7%. A single average over the whole period would hide this shape entirely.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a simple average of prices from one period to the next overstates Sun cream, Coffee, Chicken and understates Pasta, Biscuits, Laundry detergent against the matched comparison. Where replacements enter dearer than the items they replace, the naive measure counts the change in the sample as inflation; where they enter cheaper it does the reverse. Over a long collection this choice moves the answer further than any outlier rule.</a:t>
            </a:r>
          </a:p>
          <a:p/>
          <a:p>
            <a:r>
              <a:t>Recommended action: Keep the matched comparison. If a naive average is required for continuity with an older series, publish both.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 cream runs at 4.8% a year while DVDs runs at -1.0%. Divergence of this size means the aggregate conceals more than it reveals, and any weighting decision will move the headline materially.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Prices fall at 1.0% a year over the full period, against a rising aggregate. A category moving persistently against the general trend usually reflects something structural in the product rather than the price environment, though this data cannot establish what.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308 observations are absent, recurring in the same calendar months (January, February, March, April, October, November, December) across the collection period and affecting every item at once. This is a product that leaves the shelf, not a price that falls. That distinction matters because a category whose seasonality lives in availability needs a seasonal index treatment, whereas one whose seasonality lives in price does not.</a:t>
            </a:r>
          </a:p>
          <a:p/>
          <a:p>
            <a:r>
              <a:t>Recommended action: Apply an explicit seasonal method to Strawberries and state it. Holding the level across the out-of-season gap is defensible, but it must be a stated choice rather than a side effect.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actions rather than findings. Each one names something the reader can change.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method slide. Use this to answer 'how do I know this is right': every setting named here is in the exported configuration file, so the analysis can be reproduced exactly, and every judgement call (imputation, formula, chaining) is a stated default rather than something inferred from the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1316736"/>
            <a:ext cx="164592" cy="16459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 y="1243584"/>
            <a:ext cx="6400800" cy="320040"/>
          </a:xfrm>
          <a:prstGeom prst="rect">
            <a:avLst/>
          </a:prstGeom>
          <a:noFill/>
        </p:spPr>
        <p:txBody>
          <a:bodyPr wrap="square" anchor="t" lIns="0" rIns="0" tIns="0" bIns="0">
            <a:spAutoFit/>
          </a:bodyPr>
          <a:lstStyle/>
          <a:p>
            <a:pPr algn="l">
              <a:spcAft>
                <a:spcPts val="0"/>
              </a:spcAft>
            </a:pPr>
            <a:r>
              <a:rPr sz="1200" b="1" i="0">
                <a:solidFill>
                  <a:srgbClr val="D9822B"/>
                </a:solidFill>
                <a:latin typeface="Calibri"/>
              </a:rPr>
              <a:t>PRICE COLLECTION ANALYSIS</a:t>
            </a:r>
          </a:p>
        </p:txBody>
      </p:sp>
      <p:sp>
        <p:nvSpPr>
          <p:cNvPr id="5" name="TextBox 4"/>
          <p:cNvSpPr txBox="1"/>
          <p:nvPr/>
        </p:nvSpPr>
        <p:spPr>
          <a:xfrm>
            <a:off x="640080" y="1874519"/>
            <a:ext cx="10180015" cy="2194560"/>
          </a:xfrm>
          <a:prstGeom prst="rect">
            <a:avLst/>
          </a:prstGeom>
          <a:noFill/>
        </p:spPr>
        <p:txBody>
          <a:bodyPr wrap="square" anchor="t" lIns="0" rIns="0" tIns="0" bIns="0">
            <a:spAutoFit/>
          </a:bodyPr>
          <a:lstStyle/>
          <a:p>
            <a:pPr algn="l">
              <a:lnSpc>
                <a:spcPct val="108000"/>
              </a:lnSpc>
              <a:spcAft>
                <a:spcPts val="0"/>
              </a:spcAft>
            </a:pPr>
            <a:r>
              <a:rPr sz="4000" b="1" i="0">
                <a:solidFill>
                  <a:srgbClr val="F4F7F9"/>
                </a:solidFill>
                <a:latin typeface="Cambria"/>
              </a:rPr>
              <a:t>Prices rose 36% over 11 years, 2.8% a year</a:t>
            </a:r>
          </a:p>
        </p:txBody>
      </p:sp>
      <p:sp>
        <p:nvSpPr>
          <p:cNvPr id="6" name="TextBox 5"/>
          <p:cNvSpPr txBox="1"/>
          <p:nvPr/>
        </p:nvSpPr>
        <p:spPr>
          <a:xfrm>
            <a:off x="640080" y="4343400"/>
            <a:ext cx="10180015" cy="411480"/>
          </a:xfrm>
          <a:prstGeom prst="rect">
            <a:avLst/>
          </a:prstGeom>
          <a:noFill/>
        </p:spPr>
        <p:txBody>
          <a:bodyPr wrap="square" anchor="t" lIns="0" rIns="0" tIns="0" bIns="0">
            <a:spAutoFit/>
          </a:bodyPr>
          <a:lstStyle/>
          <a:p>
            <a:pPr algn="l">
              <a:spcAft>
                <a:spcPts val="0"/>
              </a:spcAft>
            </a:pPr>
            <a:r>
              <a:rPr sz="1500" b="0" i="0">
                <a:solidFill>
                  <a:srgbClr val="F4F7F9"/>
                </a:solidFill>
                <a:latin typeface="Calibri"/>
              </a:rPr>
              <a:t>Supermarket collection</a:t>
            </a:r>
          </a:p>
        </p:txBody>
      </p:sp>
      <p:sp>
        <p:nvSpPr>
          <p:cNvPr id="7" name="TextBox 6"/>
          <p:cNvSpPr txBox="1"/>
          <p:nvPr/>
        </p:nvSpPr>
        <p:spPr>
          <a:xfrm>
            <a:off x="640080" y="4800600"/>
            <a:ext cx="10180015" cy="457200"/>
          </a:xfrm>
          <a:prstGeom prst="rect">
            <a:avLst/>
          </a:prstGeom>
          <a:noFill/>
        </p:spPr>
        <p:txBody>
          <a:bodyPr wrap="square" anchor="t" lIns="0" rIns="0" tIns="0" bIns="0">
            <a:spAutoFit/>
          </a:bodyPr>
          <a:lstStyle/>
          <a:p>
            <a:pPr algn="l">
              <a:spcAft>
                <a:spcPts val="0"/>
              </a:spcAft>
            </a:pPr>
            <a:r>
              <a:rPr sz="1200" b="0" i="0">
                <a:solidFill>
                  <a:srgbClr val="8A9BA8"/>
                </a:solidFill>
                <a:latin typeface="Calibri"/>
              </a:rPr>
              <a:t>6,600 observations · 87 items · 10 categories · Jan 2015 to Dec 2025 · 230 data faults repaired</a:t>
            </a:r>
          </a:p>
        </p:txBody>
      </p:sp>
      <p:sp>
        <p:nvSpPr>
          <p:cNvPr id="8" name="TextBox 7"/>
          <p:cNvSpPr txBox="1"/>
          <p:nvPr/>
        </p:nvSpPr>
        <p:spPr>
          <a:xfrm>
            <a:off x="640080" y="6035040"/>
            <a:ext cx="8229600" cy="365760"/>
          </a:xfrm>
          <a:prstGeom prst="rect">
            <a:avLst/>
          </a:prstGeom>
          <a:noFill/>
        </p:spPr>
        <p:txBody>
          <a:bodyPr wrap="square" anchor="t" lIns="0" rIns="0" tIns="0" bIns="0">
            <a:spAutoFit/>
          </a:bodyPr>
          <a:lstStyle/>
          <a:p>
            <a:pPr algn="l">
              <a:spcAft>
                <a:spcPts val="0"/>
              </a:spcAft>
            </a:pPr>
            <a:r>
              <a:rPr sz="1000" b="0" i="1">
                <a:solidFill>
                  <a:srgbClr val="8A9BA8"/>
                </a:solidFill>
                <a:latin typeface="Calibri"/>
              </a:rPr>
              <a:t>Generated by PriceLab. Every figure is reproducible from the exported configuration.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9144000" cy="640080"/>
          </a:xfrm>
          <a:prstGeom prst="rect">
            <a:avLst/>
          </a:prstGeom>
          <a:noFill/>
        </p:spPr>
        <p:txBody>
          <a:bodyPr wrap="square" anchor="t" lIns="0" rIns="0" tIns="0" bIns="0">
            <a:spAutoFit/>
          </a:bodyPr>
          <a:lstStyle/>
          <a:p>
            <a:pPr algn="l">
              <a:spcAft>
                <a:spcPts val="0"/>
              </a:spcAft>
            </a:pPr>
            <a:r>
              <a:rPr sz="3400" b="1" i="0">
                <a:solidFill>
                  <a:srgbClr val="12263A"/>
                </a:solidFill>
                <a:latin typeface="Cambria"/>
              </a:rPr>
              <a:t>What the data shows</a:t>
            </a:r>
          </a:p>
        </p:txBody>
      </p:sp>
      <p:sp>
        <p:nvSpPr>
          <p:cNvPr id="3" name="Rounded Rectangle 2"/>
          <p:cNvSpPr/>
          <p:nvPr/>
        </p:nvSpPr>
        <p:spPr>
          <a:xfrm>
            <a:off x="640080" y="1417320"/>
            <a:ext cx="10911535" cy="1133856"/>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 y="1837943"/>
            <a:ext cx="292608" cy="29260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1847088"/>
            <a:ext cx="292608" cy="274320"/>
          </a:xfrm>
          <a:prstGeom prst="rect">
            <a:avLst/>
          </a:prstGeom>
          <a:noFill/>
        </p:spPr>
        <p:txBody>
          <a:bodyPr wrap="square" anchor="t" lIns="0" rIns="0" tIns="0" bIns="0">
            <a:spAutoFit/>
          </a:bodyPr>
          <a:lstStyle/>
          <a:p>
            <a:pPr algn="ctr">
              <a:spcAft>
                <a:spcPts val="0"/>
              </a:spcAft>
            </a:pPr>
            <a:r>
              <a:rPr sz="1300" b="1" i="0">
                <a:solidFill>
                  <a:srgbClr val="FFFFFF"/>
                </a:solidFill>
                <a:latin typeface="Calibri"/>
              </a:rPr>
              <a:t>1</a:t>
            </a:r>
          </a:p>
        </p:txBody>
      </p:sp>
      <p:sp>
        <p:nvSpPr>
          <p:cNvPr id="6" name="TextBox 5"/>
          <p:cNvSpPr txBox="1"/>
          <p:nvPr/>
        </p:nvSpPr>
        <p:spPr>
          <a:xfrm>
            <a:off x="1554480" y="1636776"/>
            <a:ext cx="9448495" cy="457200"/>
          </a:xfrm>
          <a:prstGeom prst="rect">
            <a:avLst/>
          </a:prstGeom>
          <a:noFill/>
        </p:spPr>
        <p:txBody>
          <a:bodyPr wrap="square" anchor="t" lIns="0" rIns="0" tIns="0" bIns="0">
            <a:spAutoFit/>
          </a:bodyPr>
          <a:lstStyle/>
          <a:p>
            <a:pPr algn="l">
              <a:spcAft>
                <a:spcPts val="0"/>
              </a:spcAft>
            </a:pPr>
            <a:r>
              <a:rPr sz="1600" b="1" i="0">
                <a:solidFill>
                  <a:srgbClr val="12263A"/>
                </a:solidFill>
                <a:latin typeface="Calibri"/>
              </a:rPr>
              <a:t>230 observations (3.5%) are unit errors, and they are recoverable</a:t>
            </a:r>
          </a:p>
        </p:txBody>
      </p:sp>
      <p:sp>
        <p:nvSpPr>
          <p:cNvPr id="7" name="TextBox 6"/>
          <p:cNvSpPr txBox="1"/>
          <p:nvPr/>
        </p:nvSpPr>
        <p:spPr>
          <a:xfrm>
            <a:off x="1554480" y="2075688"/>
            <a:ext cx="9448495" cy="365760"/>
          </a:xfrm>
          <a:prstGeom prst="rect">
            <a:avLst/>
          </a:prstGeom>
          <a:noFill/>
        </p:spPr>
        <p:txBody>
          <a:bodyPr wrap="square" anchor="t" lIns="0" rIns="0" tIns="0" bIns="0">
            <a:spAutoFit/>
          </a:bodyPr>
          <a:lstStyle/>
          <a:p>
            <a:pPr algn="l">
              <a:spcAft>
                <a:spcPts val="0"/>
              </a:spcAft>
            </a:pPr>
            <a:r>
              <a:rPr sz="1100" b="0" i="1">
                <a:solidFill>
                  <a:srgbClr val="1E4D6B"/>
                </a:solidFill>
                <a:latin typeface="Calibri"/>
              </a:rPr>
              <a:t>230 of 6,600 records (3.5%); 0 residual outliers after repair</a:t>
            </a:r>
          </a:p>
        </p:txBody>
      </p:sp>
      <p:sp>
        <p:nvSpPr>
          <p:cNvPr id="8" name="Rounded Rectangle 7"/>
          <p:cNvSpPr/>
          <p:nvPr/>
        </p:nvSpPr>
        <p:spPr>
          <a:xfrm>
            <a:off x="640080" y="2752344"/>
            <a:ext cx="10911535" cy="1133856"/>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7552" y="3172968"/>
            <a:ext cx="292608" cy="29260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3182112"/>
            <a:ext cx="292608" cy="274320"/>
          </a:xfrm>
          <a:prstGeom prst="rect">
            <a:avLst/>
          </a:prstGeom>
          <a:noFill/>
        </p:spPr>
        <p:txBody>
          <a:bodyPr wrap="square" anchor="t" lIns="0" rIns="0" tIns="0" bIns="0">
            <a:spAutoFit/>
          </a:bodyPr>
          <a:lstStyle/>
          <a:p>
            <a:pPr algn="ctr">
              <a:spcAft>
                <a:spcPts val="0"/>
              </a:spcAft>
            </a:pPr>
            <a:r>
              <a:rPr sz="1300" b="1" i="0">
                <a:solidFill>
                  <a:srgbClr val="FFFFFF"/>
                </a:solidFill>
                <a:latin typeface="Calibri"/>
              </a:rPr>
              <a:t>2</a:t>
            </a:r>
          </a:p>
        </p:txBody>
      </p:sp>
      <p:sp>
        <p:nvSpPr>
          <p:cNvPr id="11" name="TextBox 10"/>
          <p:cNvSpPr txBox="1"/>
          <p:nvPr/>
        </p:nvSpPr>
        <p:spPr>
          <a:xfrm>
            <a:off x="1554480" y="2971800"/>
            <a:ext cx="9448495" cy="457200"/>
          </a:xfrm>
          <a:prstGeom prst="rect">
            <a:avLst/>
          </a:prstGeom>
          <a:noFill/>
        </p:spPr>
        <p:txBody>
          <a:bodyPr wrap="square" anchor="t" lIns="0" rIns="0" tIns="0" bIns="0">
            <a:spAutoFit/>
          </a:bodyPr>
          <a:lstStyle/>
          <a:p>
            <a:pPr algn="l">
              <a:spcAft>
                <a:spcPts val="0"/>
              </a:spcAft>
            </a:pPr>
            <a:r>
              <a:rPr sz="1600" b="1" i="0">
                <a:solidFill>
                  <a:srgbClr val="12263A"/>
                </a:solidFill>
                <a:latin typeface="Calibri"/>
              </a:rPr>
              <a:t>Prices rose 36% overall, 2.8% a year</a:t>
            </a:r>
          </a:p>
        </p:txBody>
      </p:sp>
      <p:sp>
        <p:nvSpPr>
          <p:cNvPr id="12" name="TextBox 11"/>
          <p:cNvSpPr txBox="1"/>
          <p:nvPr/>
        </p:nvSpPr>
        <p:spPr>
          <a:xfrm>
            <a:off x="1554480" y="3410711"/>
            <a:ext cx="9448495" cy="365760"/>
          </a:xfrm>
          <a:prstGeom prst="rect">
            <a:avLst/>
          </a:prstGeom>
          <a:noFill/>
        </p:spPr>
        <p:txBody>
          <a:bodyPr wrap="square" anchor="t" lIns="0" rIns="0" tIns="0" bIns="0">
            <a:spAutoFit/>
          </a:bodyPr>
          <a:lstStyle/>
          <a:p>
            <a:pPr algn="l">
              <a:spcAft>
                <a:spcPts val="0"/>
              </a:spcAft>
            </a:pPr>
            <a:r>
              <a:rPr sz="1100" b="0" i="1">
                <a:solidFill>
                  <a:srgbClr val="1E4D6B"/>
                </a:solidFill>
                <a:latin typeface="Calibri"/>
              </a:rPr>
              <a:t>index 135.6 at Dec 2025, 2.83% annualised</a:t>
            </a:r>
          </a:p>
        </p:txBody>
      </p:sp>
      <p:sp>
        <p:nvSpPr>
          <p:cNvPr id="13" name="Rounded Rectangle 12"/>
          <p:cNvSpPr/>
          <p:nvPr/>
        </p:nvSpPr>
        <p:spPr>
          <a:xfrm>
            <a:off x="640080" y="4087368"/>
            <a:ext cx="10911535" cy="1133856"/>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87552" y="4507992"/>
            <a:ext cx="292608" cy="29260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517136"/>
            <a:ext cx="292608" cy="274320"/>
          </a:xfrm>
          <a:prstGeom prst="rect">
            <a:avLst/>
          </a:prstGeom>
          <a:noFill/>
        </p:spPr>
        <p:txBody>
          <a:bodyPr wrap="square" anchor="t" lIns="0" rIns="0" tIns="0" bIns="0">
            <a:spAutoFit/>
          </a:bodyPr>
          <a:lstStyle/>
          <a:p>
            <a:pPr algn="ctr">
              <a:spcAft>
                <a:spcPts val="0"/>
              </a:spcAft>
            </a:pPr>
            <a:r>
              <a:rPr sz="1300" b="1" i="0">
                <a:solidFill>
                  <a:srgbClr val="FFFFFF"/>
                </a:solidFill>
                <a:latin typeface="Calibri"/>
              </a:rPr>
              <a:t>3</a:t>
            </a:r>
          </a:p>
        </p:txBody>
      </p:sp>
      <p:sp>
        <p:nvSpPr>
          <p:cNvPr id="16" name="TextBox 15"/>
          <p:cNvSpPr txBox="1"/>
          <p:nvPr/>
        </p:nvSpPr>
        <p:spPr>
          <a:xfrm>
            <a:off x="1554480" y="4306824"/>
            <a:ext cx="9448495" cy="457200"/>
          </a:xfrm>
          <a:prstGeom prst="rect">
            <a:avLst/>
          </a:prstGeom>
          <a:noFill/>
        </p:spPr>
        <p:txBody>
          <a:bodyPr wrap="square" anchor="t" lIns="0" rIns="0" tIns="0" bIns="0">
            <a:spAutoFit/>
          </a:bodyPr>
          <a:lstStyle/>
          <a:p>
            <a:pPr algn="l">
              <a:spcAft>
                <a:spcPts val="0"/>
              </a:spcAft>
            </a:pPr>
            <a:r>
              <a:rPr sz="1600" b="1" i="0">
                <a:solidFill>
                  <a:srgbClr val="12263A"/>
                </a:solidFill>
                <a:latin typeface="Calibri"/>
              </a:rPr>
              <a:t>Inflation peaked at 3.5% in October 2020 and has since eased to 2.7%</a:t>
            </a:r>
          </a:p>
        </p:txBody>
      </p:sp>
      <p:sp>
        <p:nvSpPr>
          <p:cNvPr id="17" name="TextBox 16"/>
          <p:cNvSpPr txBox="1"/>
          <p:nvPr/>
        </p:nvSpPr>
        <p:spPr>
          <a:xfrm>
            <a:off x="1554480" y="4745736"/>
            <a:ext cx="9448495" cy="365760"/>
          </a:xfrm>
          <a:prstGeom prst="rect">
            <a:avLst/>
          </a:prstGeom>
          <a:noFill/>
        </p:spPr>
        <p:txBody>
          <a:bodyPr wrap="square" anchor="t" lIns="0" rIns="0" tIns="0" bIns="0">
            <a:spAutoFit/>
          </a:bodyPr>
          <a:lstStyle/>
          <a:p>
            <a:pPr algn="l">
              <a:spcAft>
                <a:spcPts val="0"/>
              </a:spcAft>
            </a:pPr>
            <a:r>
              <a:rPr sz="1100" b="0" i="1">
                <a:solidFill>
                  <a:srgbClr val="1E4D6B"/>
                </a:solidFill>
                <a:latin typeface="Calibri"/>
              </a:rPr>
              <a:t>peak 3.5% (Oct 2020), latest 2.7%, trough 1.8% (Jul 2016)</a:t>
            </a:r>
          </a:p>
        </p:txBody>
      </p:sp>
      <p:sp>
        <p:nvSpPr>
          <p:cNvPr id="18" name="Rounded Rectangle 17"/>
          <p:cNvSpPr/>
          <p:nvPr/>
        </p:nvSpPr>
        <p:spPr>
          <a:xfrm>
            <a:off x="640080" y="5422392"/>
            <a:ext cx="10911535" cy="1133856"/>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87552" y="5843016"/>
            <a:ext cx="292608" cy="292608"/>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5852159"/>
            <a:ext cx="292608" cy="274320"/>
          </a:xfrm>
          <a:prstGeom prst="rect">
            <a:avLst/>
          </a:prstGeom>
          <a:noFill/>
        </p:spPr>
        <p:txBody>
          <a:bodyPr wrap="square" anchor="t" lIns="0" rIns="0" tIns="0" bIns="0">
            <a:spAutoFit/>
          </a:bodyPr>
          <a:lstStyle/>
          <a:p>
            <a:pPr algn="ctr">
              <a:spcAft>
                <a:spcPts val="0"/>
              </a:spcAft>
            </a:pPr>
            <a:r>
              <a:rPr sz="1300" b="1" i="0">
                <a:solidFill>
                  <a:srgbClr val="FFFFFF"/>
                </a:solidFill>
                <a:latin typeface="Calibri"/>
              </a:rPr>
              <a:t>4</a:t>
            </a:r>
          </a:p>
        </p:txBody>
      </p:sp>
      <p:sp>
        <p:nvSpPr>
          <p:cNvPr id="21" name="TextBox 20"/>
          <p:cNvSpPr txBox="1"/>
          <p:nvPr/>
        </p:nvSpPr>
        <p:spPr>
          <a:xfrm>
            <a:off x="1554480" y="5641848"/>
            <a:ext cx="9448495" cy="457200"/>
          </a:xfrm>
          <a:prstGeom prst="rect">
            <a:avLst/>
          </a:prstGeom>
          <a:noFill/>
        </p:spPr>
        <p:txBody>
          <a:bodyPr wrap="square" anchor="t" lIns="0" rIns="0" tIns="0" bIns="0">
            <a:spAutoFit/>
          </a:bodyPr>
          <a:lstStyle/>
          <a:p>
            <a:pPr algn="l">
              <a:spcAft>
                <a:spcPts val="0"/>
              </a:spcAft>
            </a:pPr>
            <a:r>
              <a:rPr sz="1600" b="1" i="0">
                <a:solidFill>
                  <a:srgbClr val="12263A"/>
                </a:solidFill>
                <a:latin typeface="Calibri"/>
              </a:rPr>
              <a:t>Ignoring item replacement would misstate Sun cream by 15 percentage points</a:t>
            </a:r>
          </a:p>
        </p:txBody>
      </p:sp>
      <p:sp>
        <p:nvSpPr>
          <p:cNvPr id="22" name="TextBox 21"/>
          <p:cNvSpPr txBox="1"/>
          <p:nvPr/>
        </p:nvSpPr>
        <p:spPr>
          <a:xfrm>
            <a:off x="1554480" y="6080759"/>
            <a:ext cx="9448495" cy="365760"/>
          </a:xfrm>
          <a:prstGeom prst="rect">
            <a:avLst/>
          </a:prstGeom>
          <a:noFill/>
        </p:spPr>
        <p:txBody>
          <a:bodyPr wrap="square" anchor="t" lIns="0" rIns="0" tIns="0" bIns="0">
            <a:spAutoFit/>
          </a:bodyPr>
          <a:lstStyle/>
          <a:p>
            <a:pPr algn="l">
              <a:spcAft>
                <a:spcPts val="0"/>
              </a:spcAft>
            </a:pPr>
            <a:r>
              <a:rPr sz="1100" b="0" i="1">
                <a:solidFill>
                  <a:srgbClr val="1E4D6B"/>
                </a:solidFill>
                <a:latin typeface="Calibri"/>
              </a:rPr>
              <a:t>Sun cream -15.1pp · Coffee -11.2pp · Chicken -9.9pp · Pasta +9.4pp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058400" cy="731520"/>
          </a:xfrm>
          <a:prstGeom prst="rect">
            <a:avLst/>
          </a:prstGeom>
          <a:noFill/>
        </p:spPr>
        <p:txBody>
          <a:bodyPr wrap="square" anchor="t" lIns="0" rIns="0" tIns="0" bIns="0">
            <a:spAutoFit/>
          </a:bodyPr>
          <a:lstStyle/>
          <a:p>
            <a:pPr algn="l">
              <a:spcAft>
                <a:spcPts val="0"/>
              </a:spcAft>
            </a:pPr>
            <a:r>
              <a:rPr sz="3200" b="1" i="0">
                <a:solidFill>
                  <a:srgbClr val="12263A"/>
                </a:solidFill>
                <a:latin typeface="Cambria"/>
              </a:rPr>
              <a:t>The headline numbers</a:t>
            </a:r>
          </a:p>
        </p:txBody>
      </p:sp>
      <p:sp>
        <p:nvSpPr>
          <p:cNvPr id="3" name="Rounded Rectangle 2"/>
          <p:cNvSpPr/>
          <p:nvPr/>
        </p:nvSpPr>
        <p:spPr>
          <a:xfrm>
            <a:off x="640080" y="1828800"/>
            <a:ext cx="2522143" cy="2286000"/>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48840"/>
            <a:ext cx="1973503" cy="1005840"/>
          </a:xfrm>
          <a:prstGeom prst="rect">
            <a:avLst/>
          </a:prstGeom>
          <a:noFill/>
        </p:spPr>
        <p:txBody>
          <a:bodyPr wrap="square" anchor="t" lIns="0" rIns="0" tIns="0" bIns="0">
            <a:spAutoFit/>
          </a:bodyPr>
          <a:lstStyle/>
          <a:p>
            <a:pPr algn="l">
              <a:spcAft>
                <a:spcPts val="0"/>
              </a:spcAft>
            </a:pPr>
            <a:r>
              <a:rPr sz="4600" b="1" i="0">
                <a:solidFill>
                  <a:srgbClr val="1E4D6B"/>
                </a:solidFill>
                <a:latin typeface="Cambria"/>
              </a:rPr>
              <a:t>136</a:t>
            </a:r>
          </a:p>
        </p:txBody>
      </p:sp>
      <p:sp>
        <p:nvSpPr>
          <p:cNvPr id="5" name="TextBox 4"/>
          <p:cNvSpPr txBox="1"/>
          <p:nvPr/>
        </p:nvSpPr>
        <p:spPr>
          <a:xfrm>
            <a:off x="914400" y="3200400"/>
            <a:ext cx="1973503" cy="777240"/>
          </a:xfrm>
          <a:prstGeom prst="rect">
            <a:avLst/>
          </a:prstGeom>
          <a:noFill/>
        </p:spPr>
        <p:txBody>
          <a:bodyPr wrap="square" anchor="t" lIns="0" rIns="0" tIns="0" bIns="0">
            <a:spAutoFit/>
          </a:bodyPr>
          <a:lstStyle/>
          <a:p>
            <a:pPr algn="l">
              <a:lnSpc>
                <a:spcPct val="120000"/>
              </a:lnSpc>
              <a:spcAft>
                <a:spcPts val="0"/>
              </a:spcAft>
            </a:pPr>
            <a:r>
              <a:rPr sz="1200" b="0" i="0">
                <a:solidFill>
                  <a:srgbClr val="12263A"/>
                </a:solidFill>
                <a:latin typeface="Calibri"/>
              </a:rPr>
              <a:t>All items index at Dec 2025, Jan 2015 = 100</a:t>
            </a:r>
          </a:p>
        </p:txBody>
      </p:sp>
      <p:sp>
        <p:nvSpPr>
          <p:cNvPr id="6" name="Rounded Rectangle 5"/>
          <p:cNvSpPr/>
          <p:nvPr/>
        </p:nvSpPr>
        <p:spPr>
          <a:xfrm>
            <a:off x="3436543" y="1828800"/>
            <a:ext cx="2522143" cy="2286000"/>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10863" y="2148840"/>
            <a:ext cx="1973503" cy="1005840"/>
          </a:xfrm>
          <a:prstGeom prst="rect">
            <a:avLst/>
          </a:prstGeom>
          <a:noFill/>
        </p:spPr>
        <p:txBody>
          <a:bodyPr wrap="square" anchor="t" lIns="0" rIns="0" tIns="0" bIns="0">
            <a:spAutoFit/>
          </a:bodyPr>
          <a:lstStyle/>
          <a:p>
            <a:pPr algn="l">
              <a:spcAft>
                <a:spcPts val="0"/>
              </a:spcAft>
            </a:pPr>
            <a:r>
              <a:rPr sz="4600" b="1" i="0">
                <a:solidFill>
                  <a:srgbClr val="1E4D6B"/>
                </a:solidFill>
                <a:latin typeface="Cambria"/>
              </a:rPr>
              <a:t>2.8%</a:t>
            </a:r>
          </a:p>
        </p:txBody>
      </p:sp>
      <p:sp>
        <p:nvSpPr>
          <p:cNvPr id="8" name="TextBox 7"/>
          <p:cNvSpPr txBox="1"/>
          <p:nvPr/>
        </p:nvSpPr>
        <p:spPr>
          <a:xfrm>
            <a:off x="3710863" y="3200400"/>
            <a:ext cx="1973503" cy="777240"/>
          </a:xfrm>
          <a:prstGeom prst="rect">
            <a:avLst/>
          </a:prstGeom>
          <a:noFill/>
        </p:spPr>
        <p:txBody>
          <a:bodyPr wrap="square" anchor="t" lIns="0" rIns="0" tIns="0" bIns="0">
            <a:spAutoFit/>
          </a:bodyPr>
          <a:lstStyle/>
          <a:p>
            <a:pPr algn="l">
              <a:lnSpc>
                <a:spcPct val="120000"/>
              </a:lnSpc>
              <a:spcAft>
                <a:spcPts val="0"/>
              </a:spcAft>
            </a:pPr>
            <a:r>
              <a:rPr sz="1200" b="0" i="0">
                <a:solidFill>
                  <a:srgbClr val="12263A"/>
                </a:solidFill>
                <a:latin typeface="Calibri"/>
              </a:rPr>
              <a:t>Average annual rate of change</a:t>
            </a:r>
          </a:p>
        </p:txBody>
      </p:sp>
      <p:sp>
        <p:nvSpPr>
          <p:cNvPr id="9" name="Rounded Rectangle 8"/>
          <p:cNvSpPr/>
          <p:nvPr/>
        </p:nvSpPr>
        <p:spPr>
          <a:xfrm>
            <a:off x="6233007" y="1828800"/>
            <a:ext cx="2522143" cy="2286000"/>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2148840"/>
            <a:ext cx="1973503" cy="1005840"/>
          </a:xfrm>
          <a:prstGeom prst="rect">
            <a:avLst/>
          </a:prstGeom>
          <a:noFill/>
        </p:spPr>
        <p:txBody>
          <a:bodyPr wrap="square" anchor="t" lIns="0" rIns="0" tIns="0" bIns="0">
            <a:spAutoFit/>
          </a:bodyPr>
          <a:lstStyle/>
          <a:p>
            <a:pPr algn="l">
              <a:spcAft>
                <a:spcPts val="0"/>
              </a:spcAft>
            </a:pPr>
            <a:r>
              <a:rPr sz="4600" b="1" i="0">
                <a:solidFill>
                  <a:srgbClr val="D9822B"/>
                </a:solidFill>
                <a:latin typeface="Cambria"/>
              </a:rPr>
              <a:t>3.5%</a:t>
            </a:r>
          </a:p>
        </p:txBody>
      </p:sp>
      <p:sp>
        <p:nvSpPr>
          <p:cNvPr id="11" name="TextBox 10"/>
          <p:cNvSpPr txBox="1"/>
          <p:nvPr/>
        </p:nvSpPr>
        <p:spPr>
          <a:xfrm>
            <a:off x="6507327" y="3200400"/>
            <a:ext cx="1973503" cy="777240"/>
          </a:xfrm>
          <a:prstGeom prst="rect">
            <a:avLst/>
          </a:prstGeom>
          <a:noFill/>
        </p:spPr>
        <p:txBody>
          <a:bodyPr wrap="square" anchor="t" lIns="0" rIns="0" tIns="0" bIns="0">
            <a:spAutoFit/>
          </a:bodyPr>
          <a:lstStyle/>
          <a:p>
            <a:pPr algn="l">
              <a:lnSpc>
                <a:spcPct val="120000"/>
              </a:lnSpc>
              <a:spcAft>
                <a:spcPts val="0"/>
              </a:spcAft>
            </a:pPr>
            <a:r>
              <a:rPr sz="1200" b="0" i="0">
                <a:solidFill>
                  <a:srgbClr val="12263A"/>
                </a:solidFill>
                <a:latin typeface="Calibri"/>
              </a:rPr>
              <a:t>Peak twelve period rate, Oct 2020</a:t>
            </a:r>
          </a:p>
        </p:txBody>
      </p:sp>
      <p:sp>
        <p:nvSpPr>
          <p:cNvPr id="12" name="Rounded Rectangle 11"/>
          <p:cNvSpPr/>
          <p:nvPr/>
        </p:nvSpPr>
        <p:spPr>
          <a:xfrm>
            <a:off x="9029471" y="1828800"/>
            <a:ext cx="2522143" cy="2286000"/>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03791" y="2148840"/>
            <a:ext cx="1973503" cy="1005840"/>
          </a:xfrm>
          <a:prstGeom prst="rect">
            <a:avLst/>
          </a:prstGeom>
          <a:noFill/>
        </p:spPr>
        <p:txBody>
          <a:bodyPr wrap="square" anchor="t" lIns="0" rIns="0" tIns="0" bIns="0">
            <a:spAutoFit/>
          </a:bodyPr>
          <a:lstStyle/>
          <a:p>
            <a:pPr algn="l">
              <a:spcAft>
                <a:spcPts val="0"/>
              </a:spcAft>
            </a:pPr>
            <a:r>
              <a:rPr sz="4600" b="1" i="0">
                <a:solidFill>
                  <a:srgbClr val="D9822B"/>
                </a:solidFill>
                <a:latin typeface="Cambria"/>
              </a:rPr>
              <a:t>230</a:t>
            </a:r>
          </a:p>
        </p:txBody>
      </p:sp>
      <p:sp>
        <p:nvSpPr>
          <p:cNvPr id="14" name="TextBox 13"/>
          <p:cNvSpPr txBox="1"/>
          <p:nvPr/>
        </p:nvSpPr>
        <p:spPr>
          <a:xfrm>
            <a:off x="9303791" y="3200400"/>
            <a:ext cx="1973503" cy="777240"/>
          </a:xfrm>
          <a:prstGeom prst="rect">
            <a:avLst/>
          </a:prstGeom>
          <a:noFill/>
        </p:spPr>
        <p:txBody>
          <a:bodyPr wrap="square" anchor="t" lIns="0" rIns="0" tIns="0" bIns="0">
            <a:spAutoFit/>
          </a:bodyPr>
          <a:lstStyle/>
          <a:p>
            <a:pPr algn="l">
              <a:lnSpc>
                <a:spcPct val="120000"/>
              </a:lnSpc>
              <a:spcAft>
                <a:spcPts val="0"/>
              </a:spcAft>
            </a:pPr>
            <a:r>
              <a:rPr sz="1200" b="0" i="0">
                <a:solidFill>
                  <a:srgbClr val="12263A"/>
                </a:solidFill>
                <a:latin typeface="Calibri"/>
              </a:rPr>
              <a:t>Data faults detected and repaired</a:t>
            </a:r>
          </a:p>
        </p:txBody>
      </p:sp>
      <p:sp>
        <p:nvSpPr>
          <p:cNvPr id="15" name="TextBox 14"/>
          <p:cNvSpPr txBox="1"/>
          <p:nvPr/>
        </p:nvSpPr>
        <p:spPr>
          <a:xfrm>
            <a:off x="640080" y="4572000"/>
            <a:ext cx="10911535" cy="1280160"/>
          </a:xfrm>
          <a:prstGeom prst="rect">
            <a:avLst/>
          </a:prstGeom>
          <a:noFill/>
        </p:spPr>
        <p:txBody>
          <a:bodyPr wrap="square" anchor="t" lIns="0" rIns="0" tIns="0" bIns="0">
            <a:spAutoFit/>
          </a:bodyPr>
          <a:lstStyle/>
          <a:p>
            <a:pPr algn="l">
              <a:lnSpc>
                <a:spcPct val="130000"/>
              </a:lnSpc>
              <a:spcAft>
                <a:spcPts val="0"/>
              </a:spcAft>
            </a:pPr>
            <a:r>
              <a:rPr sz="1300" b="0" i="0">
                <a:solidFill>
                  <a:srgbClr val="12263A"/>
                </a:solidFill>
                <a:latin typeface="Calibri"/>
              </a:rPr>
              <a:t>Figures are produced from the cleaned collection using a matched model index. The aggregate is equally weighted, as no expenditure weights were supplied.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76072"/>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5486400" cy="320040"/>
          </a:xfrm>
          <a:prstGeom prst="rect">
            <a:avLst/>
          </a:prstGeom>
          <a:noFill/>
        </p:spPr>
        <p:txBody>
          <a:bodyPr wrap="square" anchor="t" lIns="0" rIns="0" tIns="0" bIns="0">
            <a:spAutoFit/>
          </a:bodyPr>
          <a:lstStyle/>
          <a:p>
            <a:pPr algn="l">
              <a:spcAft>
                <a:spcPts val="0"/>
              </a:spcAft>
            </a:pPr>
            <a:r>
              <a:rPr sz="1100" b="1" i="0">
                <a:solidFill>
                  <a:srgbClr val="D9822B"/>
                </a:solidFill>
                <a:latin typeface="Calibri"/>
              </a:rPr>
              <a:t>DATA QUALITY</a:t>
            </a:r>
          </a:p>
        </p:txBody>
      </p:sp>
      <p:sp>
        <p:nvSpPr>
          <p:cNvPr id="4" name="TextBox 3"/>
          <p:cNvSpPr txBox="1"/>
          <p:nvPr/>
        </p:nvSpPr>
        <p:spPr>
          <a:xfrm>
            <a:off x="640080" y="960120"/>
            <a:ext cx="4480560" cy="1371600"/>
          </a:xfrm>
          <a:prstGeom prst="rect">
            <a:avLst/>
          </a:prstGeom>
          <a:noFill/>
        </p:spPr>
        <p:txBody>
          <a:bodyPr wrap="square" anchor="t" lIns="0" rIns="0" tIns="0" bIns="0">
            <a:spAutoFit/>
          </a:bodyPr>
          <a:lstStyle/>
          <a:p>
            <a:pPr algn="l">
              <a:lnSpc>
                <a:spcPct val="108000"/>
              </a:lnSpc>
              <a:spcAft>
                <a:spcPts val="0"/>
              </a:spcAft>
            </a:pPr>
            <a:r>
              <a:rPr sz="2700" b="1" i="0">
                <a:solidFill>
                  <a:srgbClr val="12263A"/>
                </a:solidFill>
                <a:latin typeface="Cambria"/>
              </a:rPr>
              <a:t>230 observations (3.5%) are unit errors, and they are recoverable</a:t>
            </a:r>
          </a:p>
        </p:txBody>
      </p:sp>
      <p:sp>
        <p:nvSpPr>
          <p:cNvPr id="5" name="TextBox 4"/>
          <p:cNvSpPr txBox="1"/>
          <p:nvPr/>
        </p:nvSpPr>
        <p:spPr>
          <a:xfrm>
            <a:off x="640080" y="2514600"/>
            <a:ext cx="4480560" cy="2743200"/>
          </a:xfrm>
          <a:prstGeom prst="rect">
            <a:avLst/>
          </a:prstGeom>
          <a:noFill/>
        </p:spPr>
        <p:txBody>
          <a:bodyPr wrap="square" anchor="t" lIns="0" rIns="0" tIns="0" bIns="0">
            <a:spAutoFit/>
          </a:bodyPr>
          <a:lstStyle/>
          <a:p>
            <a:pPr algn="l">
              <a:lnSpc>
                <a:spcPct val="128000"/>
              </a:lnSpc>
              <a:spcAft>
                <a:spcPts val="0"/>
              </a:spcAft>
            </a:pPr>
            <a:r>
              <a:rPr sz="1300" b="0" i="0">
                <a:solidFill>
                  <a:srgbClr val="12263A"/>
                </a:solidFill>
                <a:latin typeface="Calibri"/>
              </a:rPr>
              <a:t>117 values sit around one hundred times the level of their own item and 113 sit around one hundredth of it. The multipliers cluster tightly rather than forming a continuous tail, which is the signature of a unit of measurement fault rather than genuine price volatility. Because the mechanism is known, the true value can be restored by rescaling, so the observations were repaired rather than deleted. Deleting them would have broken the item continuity that a matched index depends on.</a:t>
            </a:r>
          </a:p>
        </p:txBody>
      </p:sp>
      <p:sp>
        <p:nvSpPr>
          <p:cNvPr id="6" name="Rounded Rectangle 5"/>
          <p:cNvSpPr/>
          <p:nvPr/>
        </p:nvSpPr>
        <p:spPr>
          <a:xfrm>
            <a:off x="640080" y="5257800"/>
            <a:ext cx="4480560" cy="749808"/>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440680"/>
            <a:ext cx="3968496" cy="457200"/>
          </a:xfrm>
          <a:prstGeom prst="rect">
            <a:avLst/>
          </a:prstGeom>
          <a:noFill/>
        </p:spPr>
        <p:txBody>
          <a:bodyPr wrap="square" anchor="t" lIns="0" rIns="0" tIns="0" bIns="0">
            <a:spAutoFit/>
          </a:bodyPr>
          <a:lstStyle/>
          <a:p>
            <a:pPr algn="l">
              <a:spcAft>
                <a:spcPts val="0"/>
              </a:spcAft>
            </a:pPr>
            <a:r>
              <a:rPr sz="1200" b="1" i="0">
                <a:solidFill>
                  <a:srgbClr val="1E4D6B"/>
                </a:solidFill>
                <a:latin typeface="Calibri"/>
              </a:rPr>
              <a:t>230 of 6,600 records (3.5%); 0 residual outliers after repair</a:t>
            </a:r>
          </a:p>
        </p:txBody>
      </p:sp>
      <p:pic>
        <p:nvPicPr>
          <p:cNvPr id="8" name="Picture 7" descr="image.png"/>
          <p:cNvPicPr>
            <a:picLocks noChangeAspect="1"/>
          </p:cNvPicPr>
          <p:nvPr/>
        </p:nvPicPr>
        <p:blipFill>
          <a:blip r:embed="rId2"/>
          <a:stretch>
            <a:fillRect/>
          </a:stretch>
        </p:blipFill>
        <p:spPr>
          <a:xfrm>
            <a:off x="5577840" y="1831443"/>
            <a:ext cx="5973775" cy="319511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76072"/>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5486400" cy="320040"/>
          </a:xfrm>
          <a:prstGeom prst="rect">
            <a:avLst/>
          </a:prstGeom>
          <a:noFill/>
        </p:spPr>
        <p:txBody>
          <a:bodyPr wrap="square" anchor="t" lIns="0" rIns="0" tIns="0" bIns="0">
            <a:spAutoFit/>
          </a:bodyPr>
          <a:lstStyle/>
          <a:p>
            <a:pPr algn="l">
              <a:spcAft>
                <a:spcPts val="0"/>
              </a:spcAft>
            </a:pPr>
            <a:r>
              <a:rPr sz="1100" b="1" i="0">
                <a:solidFill>
                  <a:srgbClr val="D9822B"/>
                </a:solidFill>
                <a:latin typeface="Calibri"/>
              </a:rPr>
              <a:t>PRICE TREND</a:t>
            </a:r>
          </a:p>
        </p:txBody>
      </p:sp>
      <p:sp>
        <p:nvSpPr>
          <p:cNvPr id="4" name="TextBox 3"/>
          <p:cNvSpPr txBox="1"/>
          <p:nvPr/>
        </p:nvSpPr>
        <p:spPr>
          <a:xfrm>
            <a:off x="640080" y="960120"/>
            <a:ext cx="4480560" cy="1371600"/>
          </a:xfrm>
          <a:prstGeom prst="rect">
            <a:avLst/>
          </a:prstGeom>
          <a:noFill/>
        </p:spPr>
        <p:txBody>
          <a:bodyPr wrap="square" anchor="t" lIns="0" rIns="0" tIns="0" bIns="0">
            <a:spAutoFit/>
          </a:bodyPr>
          <a:lstStyle/>
          <a:p>
            <a:pPr algn="l">
              <a:lnSpc>
                <a:spcPct val="108000"/>
              </a:lnSpc>
              <a:spcAft>
                <a:spcPts val="0"/>
              </a:spcAft>
            </a:pPr>
            <a:r>
              <a:rPr sz="2700" b="1" i="0">
                <a:solidFill>
                  <a:srgbClr val="12263A"/>
                </a:solidFill>
                <a:latin typeface="Cambria"/>
              </a:rPr>
              <a:t>Prices rose 36% overall, 2.8% a year</a:t>
            </a:r>
          </a:p>
        </p:txBody>
      </p:sp>
      <p:sp>
        <p:nvSpPr>
          <p:cNvPr id="5" name="TextBox 4"/>
          <p:cNvSpPr txBox="1"/>
          <p:nvPr/>
        </p:nvSpPr>
        <p:spPr>
          <a:xfrm>
            <a:off x="640080" y="2514600"/>
            <a:ext cx="4480560" cy="2743200"/>
          </a:xfrm>
          <a:prstGeom prst="rect">
            <a:avLst/>
          </a:prstGeom>
          <a:noFill/>
        </p:spPr>
        <p:txBody>
          <a:bodyPr wrap="square" anchor="t" lIns="0" rIns="0" tIns="0" bIns="0">
            <a:spAutoFit/>
          </a:bodyPr>
          <a:lstStyle/>
          <a:p>
            <a:pPr algn="l">
              <a:lnSpc>
                <a:spcPct val="128000"/>
              </a:lnSpc>
              <a:spcAft>
                <a:spcPts val="0"/>
              </a:spcAft>
            </a:pPr>
            <a:r>
              <a:rPr sz="1300" b="0" i="0">
                <a:solidFill>
                  <a:srgbClr val="12263A"/>
                </a:solidFill>
                <a:latin typeface="Calibri"/>
              </a:rPr>
              <a:t>The all-items index reaches 135.6 at December 2025 against a base of 100 at January 2015. With no expenditure weights supplied this aggregate is an equally weighted geometric mean of the category indices, so it is indicative of direction and broad magnitude rather than an authoritative headline rate.</a:t>
            </a:r>
          </a:p>
        </p:txBody>
      </p:sp>
      <p:sp>
        <p:nvSpPr>
          <p:cNvPr id="6" name="Rounded Rectangle 5"/>
          <p:cNvSpPr/>
          <p:nvPr/>
        </p:nvSpPr>
        <p:spPr>
          <a:xfrm>
            <a:off x="640080" y="5257800"/>
            <a:ext cx="4480560" cy="749808"/>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440680"/>
            <a:ext cx="3968496" cy="457200"/>
          </a:xfrm>
          <a:prstGeom prst="rect">
            <a:avLst/>
          </a:prstGeom>
          <a:noFill/>
        </p:spPr>
        <p:txBody>
          <a:bodyPr wrap="square" anchor="t" lIns="0" rIns="0" tIns="0" bIns="0">
            <a:spAutoFit/>
          </a:bodyPr>
          <a:lstStyle/>
          <a:p>
            <a:pPr algn="l">
              <a:spcAft>
                <a:spcPts val="0"/>
              </a:spcAft>
            </a:pPr>
            <a:r>
              <a:rPr sz="1200" b="1" i="0">
                <a:solidFill>
                  <a:srgbClr val="1E4D6B"/>
                </a:solidFill>
                <a:latin typeface="Calibri"/>
              </a:rPr>
              <a:t>index 135.6 at Dec 2025, 2.83% annualised</a:t>
            </a:r>
          </a:p>
        </p:txBody>
      </p:sp>
      <p:pic>
        <p:nvPicPr>
          <p:cNvPr id="8" name="Picture 7" descr="image.png"/>
          <p:cNvPicPr>
            <a:picLocks noChangeAspect="1"/>
          </p:cNvPicPr>
          <p:nvPr/>
        </p:nvPicPr>
        <p:blipFill>
          <a:blip r:embed="rId2"/>
          <a:stretch>
            <a:fillRect/>
          </a:stretch>
        </p:blipFill>
        <p:spPr>
          <a:xfrm>
            <a:off x="5577840" y="1821082"/>
            <a:ext cx="5973775" cy="321583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76072"/>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5486400" cy="320040"/>
          </a:xfrm>
          <a:prstGeom prst="rect">
            <a:avLst/>
          </a:prstGeom>
          <a:noFill/>
        </p:spPr>
        <p:txBody>
          <a:bodyPr wrap="square" anchor="t" lIns="0" rIns="0" tIns="0" bIns="0">
            <a:spAutoFit/>
          </a:bodyPr>
          <a:lstStyle/>
          <a:p>
            <a:pPr algn="l">
              <a:spcAft>
                <a:spcPts val="0"/>
              </a:spcAft>
            </a:pPr>
            <a:r>
              <a:rPr sz="1100" b="1" i="0">
                <a:solidFill>
                  <a:srgbClr val="D9822B"/>
                </a:solidFill>
                <a:latin typeface="Calibri"/>
              </a:rPr>
              <a:t>PRICE TREND</a:t>
            </a:r>
          </a:p>
        </p:txBody>
      </p:sp>
      <p:sp>
        <p:nvSpPr>
          <p:cNvPr id="4" name="TextBox 3"/>
          <p:cNvSpPr txBox="1"/>
          <p:nvPr/>
        </p:nvSpPr>
        <p:spPr>
          <a:xfrm>
            <a:off x="640080" y="960120"/>
            <a:ext cx="4480560" cy="1371600"/>
          </a:xfrm>
          <a:prstGeom prst="rect">
            <a:avLst/>
          </a:prstGeom>
          <a:noFill/>
        </p:spPr>
        <p:txBody>
          <a:bodyPr wrap="square" anchor="t" lIns="0" rIns="0" tIns="0" bIns="0">
            <a:spAutoFit/>
          </a:bodyPr>
          <a:lstStyle/>
          <a:p>
            <a:pPr algn="l">
              <a:lnSpc>
                <a:spcPct val="108000"/>
              </a:lnSpc>
              <a:spcAft>
                <a:spcPts val="0"/>
              </a:spcAft>
            </a:pPr>
            <a:r>
              <a:rPr sz="2700" b="1" i="0">
                <a:solidFill>
                  <a:srgbClr val="12263A"/>
                </a:solidFill>
                <a:latin typeface="Cambria"/>
              </a:rPr>
              <a:t>Inflation peaked at 3.5% in October 2020 and has since eased to 2.7%</a:t>
            </a:r>
          </a:p>
        </p:txBody>
      </p:sp>
      <p:sp>
        <p:nvSpPr>
          <p:cNvPr id="5" name="TextBox 4"/>
          <p:cNvSpPr txBox="1"/>
          <p:nvPr/>
        </p:nvSpPr>
        <p:spPr>
          <a:xfrm>
            <a:off x="640080" y="2514600"/>
            <a:ext cx="4480560" cy="2743200"/>
          </a:xfrm>
          <a:prstGeom prst="rect">
            <a:avLst/>
          </a:prstGeom>
          <a:noFill/>
        </p:spPr>
        <p:txBody>
          <a:bodyPr wrap="square" anchor="t" lIns="0" rIns="0" tIns="0" bIns="0">
            <a:spAutoFit/>
          </a:bodyPr>
          <a:lstStyle/>
          <a:p>
            <a:pPr algn="l">
              <a:lnSpc>
                <a:spcPct val="128000"/>
              </a:lnSpc>
              <a:spcAft>
                <a:spcPts val="0"/>
              </a:spcAft>
            </a:pPr>
            <a:r>
              <a:rPr sz="1300" b="0" i="0">
                <a:solidFill>
                  <a:srgbClr val="12263A"/>
                </a:solidFill>
                <a:latin typeface="Calibri"/>
              </a:rPr>
              <a:t>The twelve period rate traces a clear cycle rather than a steady trend. The peak sits in October 2020 and the rate at the end of the series is 2.7%. A single average over the whole period would hide this shape entirely.</a:t>
            </a:r>
          </a:p>
        </p:txBody>
      </p:sp>
      <p:sp>
        <p:nvSpPr>
          <p:cNvPr id="6" name="Rounded Rectangle 5"/>
          <p:cNvSpPr/>
          <p:nvPr/>
        </p:nvSpPr>
        <p:spPr>
          <a:xfrm>
            <a:off x="640080" y="5257800"/>
            <a:ext cx="4480560" cy="749808"/>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440680"/>
            <a:ext cx="3968496" cy="457200"/>
          </a:xfrm>
          <a:prstGeom prst="rect">
            <a:avLst/>
          </a:prstGeom>
          <a:noFill/>
        </p:spPr>
        <p:txBody>
          <a:bodyPr wrap="square" anchor="t" lIns="0" rIns="0" tIns="0" bIns="0">
            <a:spAutoFit/>
          </a:bodyPr>
          <a:lstStyle/>
          <a:p>
            <a:pPr algn="l">
              <a:spcAft>
                <a:spcPts val="0"/>
              </a:spcAft>
            </a:pPr>
            <a:r>
              <a:rPr sz="1200" b="1" i="0">
                <a:solidFill>
                  <a:srgbClr val="1E4D6B"/>
                </a:solidFill>
                <a:latin typeface="Calibri"/>
              </a:rPr>
              <a:t>peak 3.5% (Oct 2020), latest 2.7%, trough 1.8% (Jul 2016)</a:t>
            </a:r>
          </a:p>
        </p:txBody>
      </p:sp>
      <p:pic>
        <p:nvPicPr>
          <p:cNvPr id="8" name="Picture 7" descr="image.png"/>
          <p:cNvPicPr>
            <a:picLocks noChangeAspect="1"/>
          </p:cNvPicPr>
          <p:nvPr/>
        </p:nvPicPr>
        <p:blipFill>
          <a:blip r:embed="rId2"/>
          <a:stretch>
            <a:fillRect/>
          </a:stretch>
        </p:blipFill>
        <p:spPr>
          <a:xfrm>
            <a:off x="5577840" y="1914725"/>
            <a:ext cx="5973775" cy="30285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76072"/>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5486400" cy="320040"/>
          </a:xfrm>
          <a:prstGeom prst="rect">
            <a:avLst/>
          </a:prstGeom>
          <a:noFill/>
        </p:spPr>
        <p:txBody>
          <a:bodyPr wrap="square" anchor="t" lIns="0" rIns="0" tIns="0" bIns="0">
            <a:spAutoFit/>
          </a:bodyPr>
          <a:lstStyle/>
          <a:p>
            <a:pPr algn="l">
              <a:spcAft>
                <a:spcPts val="0"/>
              </a:spcAft>
            </a:pPr>
            <a:r>
              <a:rPr sz="1100" b="1" i="0">
                <a:solidFill>
                  <a:srgbClr val="D9822B"/>
                </a:solidFill>
                <a:latin typeface="Calibri"/>
              </a:rPr>
              <a:t>METHOD</a:t>
            </a:r>
          </a:p>
        </p:txBody>
      </p:sp>
      <p:sp>
        <p:nvSpPr>
          <p:cNvPr id="4" name="TextBox 3"/>
          <p:cNvSpPr txBox="1"/>
          <p:nvPr/>
        </p:nvSpPr>
        <p:spPr>
          <a:xfrm>
            <a:off x="640080" y="960120"/>
            <a:ext cx="4480560" cy="1371600"/>
          </a:xfrm>
          <a:prstGeom prst="rect">
            <a:avLst/>
          </a:prstGeom>
          <a:noFill/>
        </p:spPr>
        <p:txBody>
          <a:bodyPr wrap="square" anchor="t" lIns="0" rIns="0" tIns="0" bIns="0">
            <a:spAutoFit/>
          </a:bodyPr>
          <a:lstStyle/>
          <a:p>
            <a:pPr algn="l">
              <a:lnSpc>
                <a:spcPct val="108000"/>
              </a:lnSpc>
              <a:spcAft>
                <a:spcPts val="0"/>
              </a:spcAft>
            </a:pPr>
            <a:r>
              <a:rPr sz="2700" b="1" i="0">
                <a:solidFill>
                  <a:srgbClr val="12263A"/>
                </a:solidFill>
                <a:latin typeface="Cambria"/>
              </a:rPr>
              <a:t>Ignoring item replacement would misstate Sun cream by 15 percentage points</a:t>
            </a:r>
          </a:p>
        </p:txBody>
      </p:sp>
      <p:sp>
        <p:nvSpPr>
          <p:cNvPr id="5" name="TextBox 4"/>
          <p:cNvSpPr txBox="1"/>
          <p:nvPr/>
        </p:nvSpPr>
        <p:spPr>
          <a:xfrm>
            <a:off x="640080" y="2514600"/>
            <a:ext cx="4480560" cy="2743200"/>
          </a:xfrm>
          <a:prstGeom prst="rect">
            <a:avLst/>
          </a:prstGeom>
          <a:noFill/>
        </p:spPr>
        <p:txBody>
          <a:bodyPr wrap="square" anchor="t" lIns="0" rIns="0" tIns="0" bIns="0">
            <a:spAutoFit/>
          </a:bodyPr>
          <a:lstStyle/>
          <a:p>
            <a:pPr algn="l">
              <a:lnSpc>
                <a:spcPct val="128000"/>
              </a:lnSpc>
              <a:spcAft>
                <a:spcPts val="0"/>
              </a:spcAft>
            </a:pPr>
            <a:r>
              <a:rPr sz="1300" b="0" i="0">
                <a:solidFill>
                  <a:srgbClr val="12263A"/>
                </a:solidFill>
                <a:latin typeface="Calibri"/>
              </a:rPr>
              <a:t>Comparing a simple average of prices from one period to the next overstates Sun cream, Coffee, Chicken and understates Pasta, Biscuits, Laundry detergent against the matched comparison. Where replacements enter dearer than the items they replace, the naive measure counts the change in the sample as inflation; where they enter cheaper it does the reverse. Over a long collection this choice moves the answer further than any outlier rule.</a:t>
            </a:r>
          </a:p>
        </p:txBody>
      </p:sp>
      <p:sp>
        <p:nvSpPr>
          <p:cNvPr id="6" name="Rounded Rectangle 5"/>
          <p:cNvSpPr/>
          <p:nvPr/>
        </p:nvSpPr>
        <p:spPr>
          <a:xfrm>
            <a:off x="640080" y="5257800"/>
            <a:ext cx="4480560" cy="749808"/>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440680"/>
            <a:ext cx="3968496" cy="457200"/>
          </a:xfrm>
          <a:prstGeom prst="rect">
            <a:avLst/>
          </a:prstGeom>
          <a:noFill/>
        </p:spPr>
        <p:txBody>
          <a:bodyPr wrap="square" anchor="t" lIns="0" rIns="0" tIns="0" bIns="0">
            <a:spAutoFit/>
          </a:bodyPr>
          <a:lstStyle/>
          <a:p>
            <a:pPr algn="l">
              <a:spcAft>
                <a:spcPts val="0"/>
              </a:spcAft>
            </a:pPr>
            <a:r>
              <a:rPr sz="1200" b="1" i="0">
                <a:solidFill>
                  <a:srgbClr val="1E4D6B"/>
                </a:solidFill>
                <a:latin typeface="Calibri"/>
              </a:rPr>
              <a:t>Sun cream -15.1pp · Coffee -11.2pp · Chicken -9.9pp · Pasta +9.4pp</a:t>
            </a:r>
          </a:p>
        </p:txBody>
      </p:sp>
      <p:pic>
        <p:nvPicPr>
          <p:cNvPr id="8" name="Picture 7" descr="image.png"/>
          <p:cNvPicPr>
            <a:picLocks noChangeAspect="1"/>
          </p:cNvPicPr>
          <p:nvPr/>
        </p:nvPicPr>
        <p:blipFill>
          <a:blip r:embed="rId2"/>
          <a:stretch>
            <a:fillRect/>
          </a:stretch>
        </p:blipFill>
        <p:spPr>
          <a:xfrm>
            <a:off x="5577840" y="1886909"/>
            <a:ext cx="5973775" cy="30841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76072"/>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5486400" cy="320040"/>
          </a:xfrm>
          <a:prstGeom prst="rect">
            <a:avLst/>
          </a:prstGeom>
          <a:noFill/>
        </p:spPr>
        <p:txBody>
          <a:bodyPr wrap="square" anchor="t" lIns="0" rIns="0" tIns="0" bIns="0">
            <a:spAutoFit/>
          </a:bodyPr>
          <a:lstStyle/>
          <a:p>
            <a:pPr algn="l">
              <a:spcAft>
                <a:spcPts val="0"/>
              </a:spcAft>
            </a:pPr>
            <a:r>
              <a:rPr sz="1100" b="1" i="0">
                <a:solidFill>
                  <a:srgbClr val="D9822B"/>
                </a:solidFill>
                <a:latin typeface="Calibri"/>
              </a:rPr>
              <a:t>PRICE TREND</a:t>
            </a:r>
          </a:p>
        </p:txBody>
      </p:sp>
      <p:sp>
        <p:nvSpPr>
          <p:cNvPr id="4" name="TextBox 3"/>
          <p:cNvSpPr txBox="1"/>
          <p:nvPr/>
        </p:nvSpPr>
        <p:spPr>
          <a:xfrm>
            <a:off x="640080" y="960120"/>
            <a:ext cx="10911535" cy="1371600"/>
          </a:xfrm>
          <a:prstGeom prst="rect">
            <a:avLst/>
          </a:prstGeom>
          <a:noFill/>
        </p:spPr>
        <p:txBody>
          <a:bodyPr wrap="square" anchor="t" lIns="0" rIns="0" tIns="0" bIns="0">
            <a:spAutoFit/>
          </a:bodyPr>
          <a:lstStyle/>
          <a:p>
            <a:pPr algn="l">
              <a:lnSpc>
                <a:spcPct val="108000"/>
              </a:lnSpc>
              <a:spcAft>
                <a:spcPts val="0"/>
              </a:spcAft>
            </a:pPr>
            <a:r>
              <a:rPr sz="2700" b="1" i="0">
                <a:solidFill>
                  <a:srgbClr val="12263A"/>
                </a:solidFill>
                <a:latin typeface="Cambria"/>
              </a:rPr>
              <a:t>Category rates diverge by 5.8 percentage points a year, from Ice cream to DVDs</a:t>
            </a:r>
          </a:p>
        </p:txBody>
      </p:sp>
      <p:sp>
        <p:nvSpPr>
          <p:cNvPr id="5" name="TextBox 4"/>
          <p:cNvSpPr txBox="1"/>
          <p:nvPr/>
        </p:nvSpPr>
        <p:spPr>
          <a:xfrm>
            <a:off x="640080" y="2514600"/>
            <a:ext cx="10911535" cy="2743200"/>
          </a:xfrm>
          <a:prstGeom prst="rect">
            <a:avLst/>
          </a:prstGeom>
          <a:noFill/>
        </p:spPr>
        <p:txBody>
          <a:bodyPr wrap="square" anchor="t" lIns="0" rIns="0" tIns="0" bIns="0">
            <a:spAutoFit/>
          </a:bodyPr>
          <a:lstStyle/>
          <a:p>
            <a:pPr algn="l">
              <a:lnSpc>
                <a:spcPct val="128000"/>
              </a:lnSpc>
              <a:spcAft>
                <a:spcPts val="0"/>
              </a:spcAft>
            </a:pPr>
            <a:r>
              <a:rPr sz="1300" b="0" i="0">
                <a:solidFill>
                  <a:srgbClr val="12263A"/>
                </a:solidFill>
                <a:latin typeface="Calibri"/>
              </a:rPr>
              <a:t>Ice cream runs at 4.8% a year while DVDs runs at -1.0%. Divergence of this size means the aggregate conceals more than it reveals, and any weighting decision will move the headline materially.</a:t>
            </a:r>
          </a:p>
        </p:txBody>
      </p:sp>
      <p:sp>
        <p:nvSpPr>
          <p:cNvPr id="6" name="Rounded Rectangle 5"/>
          <p:cNvSpPr/>
          <p:nvPr/>
        </p:nvSpPr>
        <p:spPr>
          <a:xfrm>
            <a:off x="640080" y="5257800"/>
            <a:ext cx="10911535" cy="749808"/>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440680"/>
            <a:ext cx="10399471" cy="457200"/>
          </a:xfrm>
          <a:prstGeom prst="rect">
            <a:avLst/>
          </a:prstGeom>
          <a:noFill/>
        </p:spPr>
        <p:txBody>
          <a:bodyPr wrap="square" anchor="t" lIns="0" rIns="0" tIns="0" bIns="0">
            <a:spAutoFit/>
          </a:bodyPr>
          <a:lstStyle/>
          <a:p>
            <a:pPr algn="l">
              <a:spcAft>
                <a:spcPts val="0"/>
              </a:spcAft>
            </a:pPr>
            <a:r>
              <a:rPr sz="1200" b="1" i="0">
                <a:solidFill>
                  <a:srgbClr val="1E4D6B"/>
                </a:solidFill>
                <a:latin typeface="Calibri"/>
              </a:rPr>
              <a:t>Ice cream 4.8% · Biscuits 4.4% · Chicken 4.0% … DVDs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76072"/>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5486400" cy="320040"/>
          </a:xfrm>
          <a:prstGeom prst="rect">
            <a:avLst/>
          </a:prstGeom>
          <a:noFill/>
        </p:spPr>
        <p:txBody>
          <a:bodyPr wrap="square" anchor="t" lIns="0" rIns="0" tIns="0" bIns="0">
            <a:spAutoFit/>
          </a:bodyPr>
          <a:lstStyle/>
          <a:p>
            <a:pPr algn="l">
              <a:spcAft>
                <a:spcPts val="0"/>
              </a:spcAft>
            </a:pPr>
            <a:r>
              <a:rPr sz="1100" b="1" i="0">
                <a:solidFill>
                  <a:srgbClr val="D9822B"/>
                </a:solidFill>
                <a:latin typeface="Calibri"/>
              </a:rPr>
              <a:t>PRICE TREND</a:t>
            </a:r>
          </a:p>
        </p:txBody>
      </p:sp>
      <p:sp>
        <p:nvSpPr>
          <p:cNvPr id="4" name="TextBox 3"/>
          <p:cNvSpPr txBox="1"/>
          <p:nvPr/>
        </p:nvSpPr>
        <p:spPr>
          <a:xfrm>
            <a:off x="640080" y="960120"/>
            <a:ext cx="10911535" cy="1371600"/>
          </a:xfrm>
          <a:prstGeom prst="rect">
            <a:avLst/>
          </a:prstGeom>
          <a:noFill/>
        </p:spPr>
        <p:txBody>
          <a:bodyPr wrap="square" anchor="t" lIns="0" rIns="0" tIns="0" bIns="0">
            <a:spAutoFit/>
          </a:bodyPr>
          <a:lstStyle/>
          <a:p>
            <a:pPr algn="l">
              <a:lnSpc>
                <a:spcPct val="108000"/>
              </a:lnSpc>
              <a:spcAft>
                <a:spcPts val="0"/>
              </a:spcAft>
            </a:pPr>
            <a:r>
              <a:rPr sz="2700" b="1" i="0">
                <a:solidFill>
                  <a:srgbClr val="12263A"/>
                </a:solidFill>
                <a:latin typeface="Cambria"/>
              </a:rPr>
              <a:t>DVDs is in sustained deflation</a:t>
            </a:r>
          </a:p>
        </p:txBody>
      </p:sp>
      <p:sp>
        <p:nvSpPr>
          <p:cNvPr id="5" name="TextBox 4"/>
          <p:cNvSpPr txBox="1"/>
          <p:nvPr/>
        </p:nvSpPr>
        <p:spPr>
          <a:xfrm>
            <a:off x="640080" y="2514600"/>
            <a:ext cx="10911535" cy="2743200"/>
          </a:xfrm>
          <a:prstGeom prst="rect">
            <a:avLst/>
          </a:prstGeom>
          <a:noFill/>
        </p:spPr>
        <p:txBody>
          <a:bodyPr wrap="square" anchor="t" lIns="0" rIns="0" tIns="0" bIns="0">
            <a:spAutoFit/>
          </a:bodyPr>
          <a:lstStyle/>
          <a:p>
            <a:pPr algn="l">
              <a:lnSpc>
                <a:spcPct val="128000"/>
              </a:lnSpc>
              <a:spcAft>
                <a:spcPts val="0"/>
              </a:spcAft>
            </a:pPr>
            <a:r>
              <a:rPr sz="1300" b="0" i="0">
                <a:solidFill>
                  <a:srgbClr val="12263A"/>
                </a:solidFill>
                <a:latin typeface="Calibri"/>
              </a:rPr>
              <a:t>Prices fall at 1.0% a year over the full period, against a rising aggregate. A category moving persistently against the general trend usually reflects something structural in the product rather than the price environment, though this data cannot establish what.</a:t>
            </a:r>
          </a:p>
        </p:txBody>
      </p:sp>
      <p:sp>
        <p:nvSpPr>
          <p:cNvPr id="6" name="Rounded Rectangle 5"/>
          <p:cNvSpPr/>
          <p:nvPr/>
        </p:nvSpPr>
        <p:spPr>
          <a:xfrm>
            <a:off x="640080" y="5257800"/>
            <a:ext cx="10911535" cy="749808"/>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440680"/>
            <a:ext cx="10399471" cy="457200"/>
          </a:xfrm>
          <a:prstGeom prst="rect">
            <a:avLst/>
          </a:prstGeom>
          <a:noFill/>
        </p:spPr>
        <p:txBody>
          <a:bodyPr wrap="square" anchor="t" lIns="0" rIns="0" tIns="0" bIns="0">
            <a:spAutoFit/>
          </a:bodyPr>
          <a:lstStyle/>
          <a:p>
            <a:pPr algn="l">
              <a:spcAft>
                <a:spcPts val="0"/>
              </a:spcAft>
            </a:pPr>
            <a:r>
              <a:rPr sz="1200" b="1" i="0">
                <a:solidFill>
                  <a:srgbClr val="1E4D6B"/>
                </a:solidFill>
                <a:latin typeface="Calibri"/>
              </a:rPr>
              <a:t>DVDs -1.0% a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76072"/>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02920"/>
            <a:ext cx="5486400" cy="320040"/>
          </a:xfrm>
          <a:prstGeom prst="rect">
            <a:avLst/>
          </a:prstGeom>
          <a:noFill/>
        </p:spPr>
        <p:txBody>
          <a:bodyPr wrap="square" anchor="t" lIns="0" rIns="0" tIns="0" bIns="0">
            <a:spAutoFit/>
          </a:bodyPr>
          <a:lstStyle/>
          <a:p>
            <a:pPr algn="l">
              <a:spcAft>
                <a:spcPts val="0"/>
              </a:spcAft>
            </a:pPr>
            <a:r>
              <a:rPr sz="1100" b="1" i="0">
                <a:solidFill>
                  <a:srgbClr val="D9822B"/>
                </a:solidFill>
                <a:latin typeface="Calibri"/>
              </a:rPr>
              <a:t>DATA QUALITY</a:t>
            </a:r>
          </a:p>
        </p:txBody>
      </p:sp>
      <p:sp>
        <p:nvSpPr>
          <p:cNvPr id="4" name="TextBox 3"/>
          <p:cNvSpPr txBox="1"/>
          <p:nvPr/>
        </p:nvSpPr>
        <p:spPr>
          <a:xfrm>
            <a:off x="640080" y="960120"/>
            <a:ext cx="10911535" cy="1371600"/>
          </a:xfrm>
          <a:prstGeom prst="rect">
            <a:avLst/>
          </a:prstGeom>
          <a:noFill/>
        </p:spPr>
        <p:txBody>
          <a:bodyPr wrap="square" anchor="t" lIns="0" rIns="0" tIns="0" bIns="0">
            <a:spAutoFit/>
          </a:bodyPr>
          <a:lstStyle/>
          <a:p>
            <a:pPr algn="l">
              <a:lnSpc>
                <a:spcPct val="108000"/>
              </a:lnSpc>
              <a:spcAft>
                <a:spcPts val="0"/>
              </a:spcAft>
            </a:pPr>
            <a:r>
              <a:rPr sz="2700" b="1" i="0">
                <a:solidFill>
                  <a:srgbClr val="12263A"/>
                </a:solidFill>
                <a:latin typeface="Cambria"/>
              </a:rPr>
              <a:t>Strawberries is seasonally unavailable, not seasonally priced</a:t>
            </a:r>
          </a:p>
        </p:txBody>
      </p:sp>
      <p:sp>
        <p:nvSpPr>
          <p:cNvPr id="5" name="TextBox 4"/>
          <p:cNvSpPr txBox="1"/>
          <p:nvPr/>
        </p:nvSpPr>
        <p:spPr>
          <a:xfrm>
            <a:off x="640080" y="2514600"/>
            <a:ext cx="10911535" cy="2743200"/>
          </a:xfrm>
          <a:prstGeom prst="rect">
            <a:avLst/>
          </a:prstGeom>
          <a:noFill/>
        </p:spPr>
        <p:txBody>
          <a:bodyPr wrap="square" anchor="t" lIns="0" rIns="0" tIns="0" bIns="0">
            <a:spAutoFit/>
          </a:bodyPr>
          <a:lstStyle/>
          <a:p>
            <a:pPr algn="l">
              <a:lnSpc>
                <a:spcPct val="128000"/>
              </a:lnSpc>
              <a:spcAft>
                <a:spcPts val="0"/>
              </a:spcAft>
            </a:pPr>
            <a:r>
              <a:rPr sz="1300" b="0" i="0">
                <a:solidFill>
                  <a:srgbClr val="12263A"/>
                </a:solidFill>
                <a:latin typeface="Calibri"/>
              </a:rPr>
              <a:t>308 observations are absent, recurring in the same calendar months (January, February, March, April, October, November, December) across the collection period and affecting every item at once. This is a product that leaves the shelf, not a price that falls. That distinction matters because a category whose seasonality lives in availability needs a seasonal index treatment, whereas one whose seasonality lives in price does not.</a:t>
            </a:r>
          </a:p>
        </p:txBody>
      </p:sp>
      <p:sp>
        <p:nvSpPr>
          <p:cNvPr id="6" name="Rounded Rectangle 5"/>
          <p:cNvSpPr/>
          <p:nvPr/>
        </p:nvSpPr>
        <p:spPr>
          <a:xfrm>
            <a:off x="640080" y="5257800"/>
            <a:ext cx="10911535" cy="749808"/>
          </a:xfrm>
          <a:prstGeom prst="roundRect">
            <a:avLst>
              <a:gd name="adj" fmla="val 6000"/>
            </a:avLst>
          </a:prstGeom>
          <a:solidFill>
            <a:srgbClr val="E9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5440680"/>
            <a:ext cx="10399471" cy="457200"/>
          </a:xfrm>
          <a:prstGeom prst="rect">
            <a:avLst/>
          </a:prstGeom>
          <a:noFill/>
        </p:spPr>
        <p:txBody>
          <a:bodyPr wrap="square" anchor="t" lIns="0" rIns="0" tIns="0" bIns="0">
            <a:spAutoFit/>
          </a:bodyPr>
          <a:lstStyle/>
          <a:p>
            <a:pPr algn="l">
              <a:spcAft>
                <a:spcPts val="0"/>
              </a:spcAft>
            </a:pPr>
            <a:r>
              <a:rPr sz="1200" b="1" i="0">
                <a:solidFill>
                  <a:srgbClr val="1E4D6B"/>
                </a:solidFill>
                <a:latin typeface="Calibri"/>
              </a:rPr>
              <a:t>308 gaps across 77 periods, January, February, March, April, October, November, December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058400" cy="731520"/>
          </a:xfrm>
          <a:prstGeom prst="rect">
            <a:avLst/>
          </a:prstGeom>
          <a:noFill/>
        </p:spPr>
        <p:txBody>
          <a:bodyPr wrap="square" anchor="t" lIns="0" rIns="0" tIns="0" bIns="0">
            <a:spAutoFit/>
          </a:bodyPr>
          <a:lstStyle/>
          <a:p>
            <a:pPr algn="l">
              <a:spcAft>
                <a:spcPts val="0"/>
              </a:spcAft>
            </a:pPr>
            <a:r>
              <a:rPr sz="3400" b="1" i="0">
                <a:solidFill>
                  <a:srgbClr val="12263A"/>
                </a:solidFill>
                <a:latin typeface="Cambria"/>
              </a:rPr>
              <a:t>What to do about it</a:t>
            </a:r>
          </a:p>
        </p:txBody>
      </p:sp>
      <p:sp>
        <p:nvSpPr>
          <p:cNvPr id="3" name="Oval 2"/>
          <p:cNvSpPr/>
          <p:nvPr/>
        </p:nvSpPr>
        <p:spPr>
          <a:xfrm>
            <a:off x="640080" y="1682496"/>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 y="1600200"/>
            <a:ext cx="10545775" cy="365760"/>
          </a:xfrm>
          <a:prstGeom prst="rect">
            <a:avLst/>
          </a:prstGeom>
          <a:noFill/>
        </p:spPr>
        <p:txBody>
          <a:bodyPr wrap="square" anchor="t" lIns="0" rIns="0" tIns="0" bIns="0">
            <a:spAutoFit/>
          </a:bodyPr>
          <a:lstStyle/>
          <a:p>
            <a:pPr algn="l">
              <a:spcAft>
                <a:spcPts val="0"/>
              </a:spcAft>
            </a:pPr>
            <a:r>
              <a:rPr sz="1400" b="1" i="0">
                <a:solidFill>
                  <a:srgbClr val="12263A"/>
                </a:solidFill>
                <a:latin typeface="Calibri"/>
              </a:rPr>
              <a:t>230 observations (3.5%) are unit errors, and they are recoverable</a:t>
            </a:r>
          </a:p>
        </p:txBody>
      </p:sp>
      <p:sp>
        <p:nvSpPr>
          <p:cNvPr id="5" name="TextBox 4"/>
          <p:cNvSpPr txBox="1"/>
          <p:nvPr/>
        </p:nvSpPr>
        <p:spPr>
          <a:xfrm>
            <a:off x="950976" y="1947672"/>
            <a:ext cx="10362895" cy="731520"/>
          </a:xfrm>
          <a:prstGeom prst="rect">
            <a:avLst/>
          </a:prstGeom>
          <a:noFill/>
        </p:spPr>
        <p:txBody>
          <a:bodyPr wrap="square" anchor="t" lIns="0" rIns="0" tIns="0" bIns="0">
            <a:spAutoFit/>
          </a:bodyPr>
          <a:lstStyle/>
          <a:p>
            <a:pPr algn="l">
              <a:lnSpc>
                <a:spcPct val="125000"/>
              </a:lnSpc>
              <a:spcAft>
                <a:spcPts val="0"/>
              </a:spcAft>
            </a:pPr>
            <a:r>
              <a:rPr sz="1250" b="0" i="0">
                <a:solidFill>
                  <a:srgbClr val="1E4D6B"/>
                </a:solidFill>
                <a:latin typeface="Calibri"/>
              </a:rPr>
              <a:t>Review the flagged list before publication. If the collection system can be changed, a field-level unit validation at entry would remove this class of error at source.</a:t>
            </a:r>
          </a:p>
        </p:txBody>
      </p:sp>
      <p:sp>
        <p:nvSpPr>
          <p:cNvPr id="6" name="Oval 5"/>
          <p:cNvSpPr/>
          <p:nvPr/>
        </p:nvSpPr>
        <p:spPr>
          <a:xfrm>
            <a:off x="640080" y="2852928"/>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770632"/>
            <a:ext cx="10545775" cy="365760"/>
          </a:xfrm>
          <a:prstGeom prst="rect">
            <a:avLst/>
          </a:prstGeom>
          <a:noFill/>
        </p:spPr>
        <p:txBody>
          <a:bodyPr wrap="square" anchor="t" lIns="0" rIns="0" tIns="0" bIns="0">
            <a:spAutoFit/>
          </a:bodyPr>
          <a:lstStyle/>
          <a:p>
            <a:pPr algn="l">
              <a:spcAft>
                <a:spcPts val="0"/>
              </a:spcAft>
            </a:pPr>
            <a:r>
              <a:rPr sz="1400" b="1" i="0">
                <a:solidFill>
                  <a:srgbClr val="12263A"/>
                </a:solidFill>
                <a:latin typeface="Calibri"/>
              </a:rPr>
              <a:t>Prices rose 36% overall, 2.8% a year</a:t>
            </a:r>
          </a:p>
        </p:txBody>
      </p:sp>
      <p:sp>
        <p:nvSpPr>
          <p:cNvPr id="8" name="TextBox 7"/>
          <p:cNvSpPr txBox="1"/>
          <p:nvPr/>
        </p:nvSpPr>
        <p:spPr>
          <a:xfrm>
            <a:off x="950976" y="3118104"/>
            <a:ext cx="10362895" cy="731520"/>
          </a:xfrm>
          <a:prstGeom prst="rect">
            <a:avLst/>
          </a:prstGeom>
          <a:noFill/>
        </p:spPr>
        <p:txBody>
          <a:bodyPr wrap="square" anchor="t" lIns="0" rIns="0" tIns="0" bIns="0">
            <a:spAutoFit/>
          </a:bodyPr>
          <a:lstStyle/>
          <a:p>
            <a:pPr algn="l">
              <a:lnSpc>
                <a:spcPct val="125000"/>
              </a:lnSpc>
              <a:spcAft>
                <a:spcPts val="0"/>
              </a:spcAft>
            </a:pPr>
            <a:r>
              <a:rPr sz="1250" b="0" i="0">
                <a:solidFill>
                  <a:srgbClr val="1E4D6B"/>
                </a:solidFill>
                <a:latin typeface="Calibri"/>
              </a:rPr>
              <a:t>Supply expenditure weights to turn this into a publishable headline rate.</a:t>
            </a:r>
          </a:p>
        </p:txBody>
      </p:sp>
      <p:sp>
        <p:nvSpPr>
          <p:cNvPr id="9" name="Oval 8"/>
          <p:cNvSpPr/>
          <p:nvPr/>
        </p:nvSpPr>
        <p:spPr>
          <a:xfrm>
            <a:off x="640080" y="4023360"/>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3941064"/>
            <a:ext cx="10545775" cy="365760"/>
          </a:xfrm>
          <a:prstGeom prst="rect">
            <a:avLst/>
          </a:prstGeom>
          <a:noFill/>
        </p:spPr>
        <p:txBody>
          <a:bodyPr wrap="square" anchor="t" lIns="0" rIns="0" tIns="0" bIns="0">
            <a:spAutoFit/>
          </a:bodyPr>
          <a:lstStyle/>
          <a:p>
            <a:pPr algn="l">
              <a:spcAft>
                <a:spcPts val="0"/>
              </a:spcAft>
            </a:pPr>
            <a:r>
              <a:rPr sz="1400" b="1" i="0">
                <a:solidFill>
                  <a:srgbClr val="12263A"/>
                </a:solidFill>
                <a:latin typeface="Calibri"/>
              </a:rPr>
              <a:t>Ignoring item replacement would misstate Sun cream by 15 percentage points</a:t>
            </a:r>
          </a:p>
        </p:txBody>
      </p:sp>
      <p:sp>
        <p:nvSpPr>
          <p:cNvPr id="11" name="TextBox 10"/>
          <p:cNvSpPr txBox="1"/>
          <p:nvPr/>
        </p:nvSpPr>
        <p:spPr>
          <a:xfrm>
            <a:off x="950976" y="4288536"/>
            <a:ext cx="10362895" cy="731520"/>
          </a:xfrm>
          <a:prstGeom prst="rect">
            <a:avLst/>
          </a:prstGeom>
          <a:noFill/>
        </p:spPr>
        <p:txBody>
          <a:bodyPr wrap="square" anchor="t" lIns="0" rIns="0" tIns="0" bIns="0">
            <a:spAutoFit/>
          </a:bodyPr>
          <a:lstStyle/>
          <a:p>
            <a:pPr algn="l">
              <a:lnSpc>
                <a:spcPct val="125000"/>
              </a:lnSpc>
              <a:spcAft>
                <a:spcPts val="0"/>
              </a:spcAft>
            </a:pPr>
            <a:r>
              <a:rPr sz="1250" b="0" i="0">
                <a:solidFill>
                  <a:srgbClr val="1E4D6B"/>
                </a:solidFill>
                <a:latin typeface="Calibri"/>
              </a:rPr>
              <a:t>Keep the matched comparison. If a naive average is required for continuity with an older series, publish both.</a:t>
            </a:r>
          </a:p>
        </p:txBody>
      </p:sp>
      <p:sp>
        <p:nvSpPr>
          <p:cNvPr id="12" name="Oval 11"/>
          <p:cNvSpPr/>
          <p:nvPr/>
        </p:nvSpPr>
        <p:spPr>
          <a:xfrm>
            <a:off x="640080" y="5193792"/>
            <a:ext cx="146304" cy="14630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5111496"/>
            <a:ext cx="10545775" cy="365760"/>
          </a:xfrm>
          <a:prstGeom prst="rect">
            <a:avLst/>
          </a:prstGeom>
          <a:noFill/>
        </p:spPr>
        <p:txBody>
          <a:bodyPr wrap="square" anchor="t" lIns="0" rIns="0" tIns="0" bIns="0">
            <a:spAutoFit/>
          </a:bodyPr>
          <a:lstStyle/>
          <a:p>
            <a:pPr algn="l">
              <a:spcAft>
                <a:spcPts val="0"/>
              </a:spcAft>
            </a:pPr>
            <a:r>
              <a:rPr sz="1400" b="1" i="0">
                <a:solidFill>
                  <a:srgbClr val="12263A"/>
                </a:solidFill>
                <a:latin typeface="Calibri"/>
              </a:rPr>
              <a:t>Strawberries is seasonally unavailable, not seasonally priced</a:t>
            </a:r>
          </a:p>
        </p:txBody>
      </p:sp>
      <p:sp>
        <p:nvSpPr>
          <p:cNvPr id="14" name="TextBox 13"/>
          <p:cNvSpPr txBox="1"/>
          <p:nvPr/>
        </p:nvSpPr>
        <p:spPr>
          <a:xfrm>
            <a:off x="950976" y="5458968"/>
            <a:ext cx="10362895" cy="731520"/>
          </a:xfrm>
          <a:prstGeom prst="rect">
            <a:avLst/>
          </a:prstGeom>
          <a:noFill/>
        </p:spPr>
        <p:txBody>
          <a:bodyPr wrap="square" anchor="t" lIns="0" rIns="0" tIns="0" bIns="0">
            <a:spAutoFit/>
          </a:bodyPr>
          <a:lstStyle/>
          <a:p>
            <a:pPr algn="l">
              <a:lnSpc>
                <a:spcPct val="125000"/>
              </a:lnSpc>
              <a:spcAft>
                <a:spcPts val="0"/>
              </a:spcAft>
            </a:pPr>
            <a:r>
              <a:rPr sz="1250" b="0" i="0">
                <a:solidFill>
                  <a:srgbClr val="1E4D6B"/>
                </a:solidFill>
                <a:latin typeface="Calibri"/>
              </a:rPr>
              <a:t>Apply an explicit seasonal method to Strawberries and state it. Holding the level across the out-of-season gap is defensible, but it must be a stated choice rather than a side effect.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10058400" cy="731520"/>
          </a:xfrm>
          <a:prstGeom prst="rect">
            <a:avLst/>
          </a:prstGeom>
          <a:noFill/>
        </p:spPr>
        <p:txBody>
          <a:bodyPr wrap="square" anchor="t" lIns="0" rIns="0" tIns="0" bIns="0">
            <a:spAutoFit/>
          </a:bodyPr>
          <a:lstStyle/>
          <a:p>
            <a:pPr algn="l">
              <a:spcAft>
                <a:spcPts val="0"/>
              </a:spcAft>
            </a:pPr>
            <a:r>
              <a:rPr sz="3200" b="1" i="0">
                <a:solidFill>
                  <a:srgbClr val="F4F7F9"/>
                </a:solidFill>
                <a:latin typeface="Cambria"/>
              </a:rPr>
              <a:t>How this was produced</a:t>
            </a:r>
          </a:p>
        </p:txBody>
      </p:sp>
      <p:sp>
        <p:nvSpPr>
          <p:cNvPr id="4" name="TextBox 3"/>
          <p:cNvSpPr txBox="1"/>
          <p:nvPr/>
        </p:nvSpPr>
        <p:spPr>
          <a:xfrm>
            <a:off x="640080" y="1554480"/>
            <a:ext cx="5181447" cy="320040"/>
          </a:xfrm>
          <a:prstGeom prst="rect">
            <a:avLst/>
          </a:prstGeom>
          <a:noFill/>
        </p:spPr>
        <p:txBody>
          <a:bodyPr wrap="square" anchor="t" lIns="0" rIns="0" tIns="0" bIns="0">
            <a:spAutoFit/>
          </a:bodyPr>
          <a:lstStyle/>
          <a:p>
            <a:pPr algn="l">
              <a:spcAft>
                <a:spcPts val="0"/>
              </a:spcAft>
            </a:pPr>
            <a:r>
              <a:rPr sz="1500" b="1" i="0">
                <a:solidFill>
                  <a:srgbClr val="D9822B"/>
                </a:solidFill>
                <a:latin typeface="Calibri"/>
              </a:rPr>
              <a:t>Cleaning</a:t>
            </a:r>
          </a:p>
        </p:txBody>
      </p:sp>
      <p:sp>
        <p:nvSpPr>
          <p:cNvPr id="5" name="TextBox 4"/>
          <p:cNvSpPr txBox="1"/>
          <p:nvPr/>
        </p:nvSpPr>
        <p:spPr>
          <a:xfrm>
            <a:off x="640080" y="1938528"/>
            <a:ext cx="5181447" cy="1828800"/>
          </a:xfrm>
          <a:prstGeom prst="rect">
            <a:avLst/>
          </a:prstGeom>
          <a:noFill/>
        </p:spPr>
        <p:txBody>
          <a:bodyPr wrap="square" anchor="t" lIns="0" rIns="0" tIns="0" bIns="0">
            <a:spAutoFit/>
          </a:bodyPr>
          <a:lstStyle/>
          <a:p>
            <a:pPr algn="l">
              <a:lnSpc>
                <a:spcPct val="130000"/>
              </a:lnSpc>
              <a:spcAft>
                <a:spcPts val="0"/>
              </a:spcAft>
            </a:pPr>
            <a:r>
              <a:rPr sz="1200" b="0" i="0">
                <a:solidFill>
                  <a:srgbClr val="F4F7F9"/>
                </a:solidFill>
                <a:latin typeface="Calibri"/>
              </a:rPr>
              <a:t>Missing sentinels recoded before calculation. Outliers judged against a 13 period centred rolling median of each item's own series, so a trending price is not mistaken for a fault. 230 scale errors repaired by rescaling rather than deleted; 0 unexplained residuals remain.</a:t>
            </a:r>
          </a:p>
        </p:txBody>
      </p:sp>
      <p:sp>
        <p:nvSpPr>
          <p:cNvPr id="6" name="TextBox 5"/>
          <p:cNvSpPr txBox="1"/>
          <p:nvPr/>
        </p:nvSpPr>
        <p:spPr>
          <a:xfrm>
            <a:off x="640080" y="3840480"/>
            <a:ext cx="5181447" cy="320040"/>
          </a:xfrm>
          <a:prstGeom prst="rect">
            <a:avLst/>
          </a:prstGeom>
          <a:noFill/>
        </p:spPr>
        <p:txBody>
          <a:bodyPr wrap="square" anchor="t" lIns="0" rIns="0" tIns="0" bIns="0">
            <a:spAutoFit/>
          </a:bodyPr>
          <a:lstStyle/>
          <a:p>
            <a:pPr algn="l">
              <a:spcAft>
                <a:spcPts val="0"/>
              </a:spcAft>
            </a:pPr>
            <a:r>
              <a:rPr sz="1500" b="1" i="0">
                <a:solidFill>
                  <a:srgbClr val="D9822B"/>
                </a:solidFill>
                <a:latin typeface="Calibri"/>
              </a:rPr>
              <a:t>Imputation</a:t>
            </a:r>
          </a:p>
        </p:txBody>
      </p:sp>
      <p:sp>
        <p:nvSpPr>
          <p:cNvPr id="7" name="TextBox 6"/>
          <p:cNvSpPr txBox="1"/>
          <p:nvPr/>
        </p:nvSpPr>
        <p:spPr>
          <a:xfrm>
            <a:off x="640080" y="4224528"/>
            <a:ext cx="5181447" cy="1828800"/>
          </a:xfrm>
          <a:prstGeom prst="rect">
            <a:avLst/>
          </a:prstGeom>
          <a:noFill/>
        </p:spPr>
        <p:txBody>
          <a:bodyPr wrap="square" anchor="t" lIns="0" rIns="0" tIns="0" bIns="0">
            <a:spAutoFit/>
          </a:bodyPr>
          <a:lstStyle/>
          <a:p>
            <a:pPr algn="l">
              <a:lnSpc>
                <a:spcPct val="130000"/>
              </a:lnSpc>
              <a:spcAft>
                <a:spcPts val="0"/>
              </a:spcAft>
            </a:pPr>
            <a:r>
              <a:rPr sz="1200" b="0" i="0">
                <a:solidFill>
                  <a:srgbClr val="F4F7F9"/>
                </a:solidFill>
                <a:latin typeface="Calibri"/>
              </a:rPr>
              <a:t>Default no imputation. Biscuits: class mean; Bread: class mean; Chicken: class mean; Coffee: class mean; DVDs: class mean; Ice cream: class mean; Laundry detergent: class mean; Pasta: class mean; Strawberries: seasonal hold; Sun cream: class mean</a:t>
            </a:r>
          </a:p>
        </p:txBody>
      </p:sp>
      <p:sp>
        <p:nvSpPr>
          <p:cNvPr id="8" name="TextBox 7"/>
          <p:cNvSpPr txBox="1"/>
          <p:nvPr/>
        </p:nvSpPr>
        <p:spPr>
          <a:xfrm>
            <a:off x="6278727" y="1554480"/>
            <a:ext cx="5181447" cy="320040"/>
          </a:xfrm>
          <a:prstGeom prst="rect">
            <a:avLst/>
          </a:prstGeom>
          <a:noFill/>
        </p:spPr>
        <p:txBody>
          <a:bodyPr wrap="square" anchor="t" lIns="0" rIns="0" tIns="0" bIns="0">
            <a:spAutoFit/>
          </a:bodyPr>
          <a:lstStyle/>
          <a:p>
            <a:pPr algn="l">
              <a:spcAft>
                <a:spcPts val="0"/>
              </a:spcAft>
            </a:pPr>
            <a:r>
              <a:rPr sz="1500" b="1" i="0">
                <a:solidFill>
                  <a:srgbClr val="D9822B"/>
                </a:solidFill>
                <a:latin typeface="Calibri"/>
              </a:rPr>
              <a:t>Aggregation</a:t>
            </a:r>
          </a:p>
        </p:txBody>
      </p:sp>
      <p:sp>
        <p:nvSpPr>
          <p:cNvPr id="9" name="TextBox 8"/>
          <p:cNvSpPr txBox="1"/>
          <p:nvPr/>
        </p:nvSpPr>
        <p:spPr>
          <a:xfrm>
            <a:off x="6278727" y="1938528"/>
            <a:ext cx="5181447" cy="1828800"/>
          </a:xfrm>
          <a:prstGeom prst="rect">
            <a:avLst/>
          </a:prstGeom>
          <a:noFill/>
        </p:spPr>
        <p:txBody>
          <a:bodyPr wrap="square" anchor="t" lIns="0" rIns="0" tIns="0" bIns="0">
            <a:spAutoFit/>
          </a:bodyPr>
          <a:lstStyle/>
          <a:p>
            <a:pPr algn="l">
              <a:lnSpc>
                <a:spcPct val="130000"/>
              </a:lnSpc>
              <a:spcAft>
                <a:spcPts val="0"/>
              </a:spcAft>
            </a:pPr>
            <a:r>
              <a:rPr sz="1200" b="0" i="0">
                <a:solidFill>
                  <a:srgbClr val="F4F7F9"/>
                </a:solidFill>
                <a:latin typeface="Calibri"/>
              </a:rPr>
              <a:t>Jevons elementary index, matched model, chained. Items entering or leaving between two periods are excluded from that comparison, so replacement does not enter as price change.</a:t>
            </a:r>
          </a:p>
        </p:txBody>
      </p:sp>
      <p:sp>
        <p:nvSpPr>
          <p:cNvPr id="10" name="TextBox 9"/>
          <p:cNvSpPr txBox="1"/>
          <p:nvPr/>
        </p:nvSpPr>
        <p:spPr>
          <a:xfrm>
            <a:off x="6278727" y="3840480"/>
            <a:ext cx="5181447" cy="320040"/>
          </a:xfrm>
          <a:prstGeom prst="rect">
            <a:avLst/>
          </a:prstGeom>
          <a:noFill/>
        </p:spPr>
        <p:txBody>
          <a:bodyPr wrap="square" anchor="t" lIns="0" rIns="0" tIns="0" bIns="0">
            <a:spAutoFit/>
          </a:bodyPr>
          <a:lstStyle/>
          <a:p>
            <a:pPr algn="l">
              <a:spcAft>
                <a:spcPts val="0"/>
              </a:spcAft>
            </a:pPr>
            <a:r>
              <a:rPr sz="1500" b="1" i="0">
                <a:solidFill>
                  <a:srgbClr val="D9822B"/>
                </a:solidFill>
                <a:latin typeface="Calibri"/>
              </a:rPr>
              <a:t>Limitations</a:t>
            </a:r>
          </a:p>
        </p:txBody>
      </p:sp>
      <p:sp>
        <p:nvSpPr>
          <p:cNvPr id="11" name="TextBox 10"/>
          <p:cNvSpPr txBox="1"/>
          <p:nvPr/>
        </p:nvSpPr>
        <p:spPr>
          <a:xfrm>
            <a:off x="6278727" y="4224528"/>
            <a:ext cx="5181447" cy="1828800"/>
          </a:xfrm>
          <a:prstGeom prst="rect">
            <a:avLst/>
          </a:prstGeom>
          <a:noFill/>
        </p:spPr>
        <p:txBody>
          <a:bodyPr wrap="square" anchor="t" lIns="0" rIns="0" tIns="0" bIns="0">
            <a:spAutoFit/>
          </a:bodyPr>
          <a:lstStyle/>
          <a:p>
            <a:pPr algn="l">
              <a:lnSpc>
                <a:spcPct val="130000"/>
              </a:lnSpc>
              <a:spcAft>
                <a:spcPts val="0"/>
              </a:spcAft>
            </a:pPr>
            <a:r>
              <a:rPr sz="1200" b="0" i="0">
                <a:solidFill>
                  <a:srgbClr val="F4F7F9"/>
                </a:solidFill>
                <a:latin typeface="Calibri"/>
              </a:rPr>
              <a:t>No quality adjustment between a departing item and its replacement, so a change in specification is treated as price change. No expenditure weights, so the aggregate is equally weighted and indicative.</a:t>
            </a:r>
          </a:p>
        </p:txBody>
      </p:sp>
      <p:sp>
        <p:nvSpPr>
          <p:cNvPr id="12" name="TextBox 11"/>
          <p:cNvSpPr txBox="1"/>
          <p:nvPr/>
        </p:nvSpPr>
        <p:spPr>
          <a:xfrm>
            <a:off x="640080" y="6126480"/>
            <a:ext cx="10058400" cy="365760"/>
          </a:xfrm>
          <a:prstGeom prst="rect">
            <a:avLst/>
          </a:prstGeom>
          <a:noFill/>
        </p:spPr>
        <p:txBody>
          <a:bodyPr wrap="square" anchor="t" lIns="0" rIns="0" tIns="0" bIns="0">
            <a:spAutoFit/>
          </a:bodyPr>
          <a:lstStyle/>
          <a:p>
            <a:pPr algn="l">
              <a:spcAft>
                <a:spcPts val="0"/>
              </a:spcAft>
            </a:pPr>
            <a:r>
              <a:rPr sz="1000" b="0" i="1">
                <a:solidFill>
                  <a:srgbClr val="8A9BA8"/>
                </a:solidFill>
                <a:latin typeface="Calibri"/>
              </a:rPr>
              <a:t>Configuration exported alongside this deck reproduces every figure.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